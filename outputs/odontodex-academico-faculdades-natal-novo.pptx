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5813e1a7f4484a" /><Relationship Type="http://schemas.openxmlformats.org/officeDocument/2006/relationships/extended-properties" Target="/docProps/app.xml" Id="R0b4814194868453d" /><Relationship Type="http://schemas.openxmlformats.org/officeDocument/2006/relationships/officeDocument" Target="/ppt/presentation.xml" Id="R3b3303564518421f" /></Relationships>
</file>

<file path=ppt/presentation.xml><?xml version="1.0" encoding="utf-8"?>
<p:presentation xmlns:p="http://schemas.openxmlformats.org/presentationml/2006/main">
  <p:sldMasterIdLst>
    <p:sldMasterId xmlns:r="http://schemas.openxmlformats.org/officeDocument/2006/relationships" id="2147483648" r:id="Rc9da7ed7d0a547e4"/>
  </p:sldMasterIdLst>
  <p:notesMasterIdLst>
    <p:notesMasterId xmlns:r="http://schemas.openxmlformats.org/officeDocument/2006/relationships" r:id="R58f71b4286674923"/>
  </p:notesMasterIdLst>
  <p:sldIdLst>
    <p:sldId xmlns:r="http://schemas.openxmlformats.org/officeDocument/2006/relationships" id="256" r:id="R620db192cbaa4072"/>
    <p:sldId xmlns:r="http://schemas.openxmlformats.org/officeDocument/2006/relationships" id="257" r:id="R7c04e1b0969b408a"/>
    <p:sldId xmlns:r="http://schemas.openxmlformats.org/officeDocument/2006/relationships" id="258" r:id="R85e6fe4b922c4da6"/>
    <p:sldId xmlns:r="http://schemas.openxmlformats.org/officeDocument/2006/relationships" id="259" r:id="R2e42093f264048fc"/>
    <p:sldId xmlns:r="http://schemas.openxmlformats.org/officeDocument/2006/relationships" id="260" r:id="Re71db11e6fca46ee"/>
    <p:sldId xmlns:r="http://schemas.openxmlformats.org/officeDocument/2006/relationships" id="261" r:id="Re3ff6ce4ee414e47"/>
    <p:sldId xmlns:r="http://schemas.openxmlformats.org/officeDocument/2006/relationships" id="262" r:id="Rc7f60c35cc1f475d"/>
    <p:sldId xmlns:r="http://schemas.openxmlformats.org/officeDocument/2006/relationships" id="263" r:id="R57c187e01aff4647"/>
    <p:sldId xmlns:r="http://schemas.openxmlformats.org/officeDocument/2006/relationships" id="264" r:id="R2d733fd50da04316"/>
    <p:sldId xmlns:r="http://schemas.openxmlformats.org/officeDocument/2006/relationships" id="265" r:id="R8941f5e068e0480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a2cf97bfa14317" /><Relationship Type="http://schemas.openxmlformats.org/officeDocument/2006/relationships/slideMaster" Target="/ppt/slideMasters/slideMaster1.xml" Id="Rc9da7ed7d0a547e4" /><Relationship Type="http://schemas.openxmlformats.org/officeDocument/2006/relationships/notesMaster" Target="/ppt/notesMasters/notesMaster1.xml" Id="R58f71b4286674923" /><Relationship Type="http://schemas.openxmlformats.org/officeDocument/2006/relationships/presProps" Target="/ppt/presProps.xml" Id="Rd12f201825604107" /><Relationship Type="http://schemas.openxmlformats.org/officeDocument/2006/relationships/tableStyles" Target="/ppt/tableStyles.xml" Id="R49c6c94784e5478d" /><Relationship Type="http://schemas.openxmlformats.org/officeDocument/2006/relationships/slide" Target="/ppt/slides/slide1.xml" Id="R620db192cbaa4072" /><Relationship Type="http://schemas.openxmlformats.org/officeDocument/2006/relationships/slide" Target="/ppt/slides/slide2.xml" Id="R7c04e1b0969b408a" /><Relationship Type="http://schemas.openxmlformats.org/officeDocument/2006/relationships/slide" Target="/ppt/slides/slide3.xml" Id="R85e6fe4b922c4da6" /><Relationship Type="http://schemas.openxmlformats.org/officeDocument/2006/relationships/slide" Target="/ppt/slides/slide4.xml" Id="R2e42093f264048fc" /><Relationship Type="http://schemas.openxmlformats.org/officeDocument/2006/relationships/slide" Target="/ppt/slides/slide5.xml" Id="Re71db11e6fca46ee" /><Relationship Type="http://schemas.openxmlformats.org/officeDocument/2006/relationships/slide" Target="/ppt/slides/slide6.xml" Id="Re3ff6ce4ee414e47" /><Relationship Type="http://schemas.openxmlformats.org/officeDocument/2006/relationships/slide" Target="/ppt/slides/slide7.xml" Id="Rc7f60c35cc1f475d" /><Relationship Type="http://schemas.openxmlformats.org/officeDocument/2006/relationships/slide" Target="/ppt/slides/slide8.xml" Id="R57c187e01aff4647" /><Relationship Type="http://schemas.openxmlformats.org/officeDocument/2006/relationships/slide" Target="/ppt/slides/slide9.xml" Id="R2d733fd50da04316" /><Relationship Type="http://schemas.openxmlformats.org/officeDocument/2006/relationships/slide" Target="/ppt/slides/slide10.xml" Id="R8941f5e068e048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bf8ef6870540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5b2c91a09d44be" /><Relationship Type="http://schemas.openxmlformats.org/officeDocument/2006/relationships/notesMaster" Target="/ppt/notesMasters/notesMaster1.xml" Id="Rc9bdc3058ace42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862969fc36492a" /><Relationship Type="http://schemas.openxmlformats.org/officeDocument/2006/relationships/notesMaster" Target="/ppt/notesMasters/notesMaster1.xml" Id="Rf410b4716b4649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7db9340fec431a" /><Relationship Type="http://schemas.openxmlformats.org/officeDocument/2006/relationships/notesMaster" Target="/ppt/notesMasters/notesMaster1.xml" Id="R466ae450abf049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daa8ba426f4e8e" /><Relationship Type="http://schemas.openxmlformats.org/officeDocument/2006/relationships/notesMaster" Target="/ppt/notesMasters/notesMaster1.xml" Id="Rdc28dbda945b40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0640c6c3774865" /><Relationship Type="http://schemas.openxmlformats.org/officeDocument/2006/relationships/notesMaster" Target="/ppt/notesMasters/notesMaster1.xml" Id="R03932e76b84c47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efdaa7c467428f" /><Relationship Type="http://schemas.openxmlformats.org/officeDocument/2006/relationships/notesMaster" Target="/ppt/notesMasters/notesMaster1.xml" Id="R08353fa4a2a04d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778b45503a41b1" /><Relationship Type="http://schemas.openxmlformats.org/officeDocument/2006/relationships/notesMaster" Target="/ppt/notesMasters/notesMaster1.xml" Id="R2846c33707da4e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679361cde441e6" /><Relationship Type="http://schemas.openxmlformats.org/officeDocument/2006/relationships/notesMaster" Target="/ppt/notesMasters/notesMaster1.xml" Id="R37d537f7057946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2dcf22a9494995" /><Relationship Type="http://schemas.openxmlformats.org/officeDocument/2006/relationships/notesMaster" Target="/ppt/notesMasters/notesMaster1.xml" Id="R8be2013699a74f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488c271d08486b" /><Relationship Type="http://schemas.openxmlformats.org/officeDocument/2006/relationships/notesMaster" Target="/ppt/notesMasters/notesMaster1.xml" Id="R8e0a1434c8614b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"tipo": "imagem_sugerida",</a:t>
            </a:r>
          </a:p>
          <a:p xmlns:a="http://schemas.openxmlformats.org/drawingml/2006/main">
            <a:r>
              <a:t>  "slide": 1,</a:t>
            </a:r>
          </a:p>
          <a:p xmlns:a="http://schemas.openxmlformats.org/drawingml/2006/main">
            <a:r>
              <a:t>  "descricao": "Jovem estudante de odontologia, jaleco branco, em pé ao lado de uma cadeira odontológica, segurando um smartphone com ícone de dente. Paciente idoso deitado. Fundo de clínica moderna.",</a:t>
            </a:r>
          </a:p>
          <a:p xmlns:a="http://schemas.openxmlformats.org/drawingml/2006/main">
            <a:r>
              <a:t>  "prompt": "Ilustração vetorial plana moderna. Jovem estudante de odontologia usando jaleco branco, em pé ao lado de uma cadeira odontológica azul, segura um smartphone brilhante com ícone de dente estilizado. Paciente idoso deita-se na cadeira sorrindo. Fundo com leve desfoque de clínica. Cores: azul petróleo, branco e verde menta. Estilo acadêmico profissional. Formato 16:9.",</a:t>
            </a:r>
          </a:p>
          <a:p xmlns:a="http://schemas.openxmlformats.org/drawingml/2006/main">
            <a:r>
              <a:t>  "estilo": "Vetorial plano, tons pastel médicos"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"tipo": "imagem_sugerida",</a:t>
            </a:r>
          </a:p>
          <a:p xmlns:a="http://schemas.openxmlformats.org/drawingml/2006/main">
            <a:r>
              <a:t>  "slide": 2,</a:t>
            </a:r>
          </a:p>
          <a:p xmlns:a="http://schemas.openxmlformats.org/drawingml/2006/main">
            <a:r>
              <a:t>  "descricao": "Professor de jaleco sobrecarregado, cercado por 5 alunos falando ao mesmo tempo com balões de interrogação.",</a:t>
            </a:r>
          </a:p>
          <a:p xmlns:a="http://schemas.openxmlformats.org/drawingml/2006/main">
            <a:r>
              <a:t>  "prompt": "Ilustração vetorial plana. Professor de odontologia de jaleco branco, expressão cansada, sentado, cercado por 5 alunos em pé apontando pranchetas e falando. Balões de fala com interrogações. Fundo de sala de aula. Cores: azul petróleo, branco, toques de laranja para estresse. Formato 16:9.",</a:t>
            </a:r>
          </a:p>
          <a:p xmlns:a="http://schemas.openxmlformats.org/drawingml/2006/main">
            <a:r>
              <a:t>  "estilo": "Vetorial com ênfase na sobrecarga"</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"tipo": "imagem_sugerida",</a:t>
            </a:r>
          </a:p>
          <a:p xmlns:a="http://schemas.openxmlformats.org/drawingml/2006/main">
            <a:r>
              <a:t>  "slide": 3,</a:t>
            </a:r>
          </a:p>
          <a:p xmlns:a="http://schemas.openxmlformats.org/drawingml/2006/main">
            <a:r>
              <a:t>  "descricao": "Infográfico mostrando grande abismo entre pilha de livros (teoria) e cadeira odontológica (prática).",</a:t>
            </a:r>
          </a:p>
          <a:p xmlns:a="http://schemas.openxmlformats.org/drawingml/2006/main">
            <a:r>
              <a:t>  "prompt": "Ilustração infográfica vetorial plana. Lado esquerdo: pilha de livros e diploma. Lado direito: cadeira odontológica com paciente. No centro, grande fosso com flecha quebrada e ponto de interrogação vermelho. Fundo branco. Cores: azul marinho e laranja. Formato 16:9.",</a:t>
            </a:r>
          </a:p>
          <a:p xmlns:a="http://schemas.openxmlformats.org/drawingml/2006/main">
            <a:r>
              <a:t>  "estilo": "Infográfico vetorial minimalista"</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"tipo": "imagem_sugerida",</a:t>
            </a:r>
          </a:p>
          <a:p xmlns:a="http://schemas.openxmlformats.org/drawingml/2006/main">
            <a:r>
              <a:t>  "slide": 4,</a:t>
            </a:r>
          </a:p>
          <a:p xmlns:a="http://schemas.openxmlformats.org/drawingml/2006/main">
            <a:r>
              <a:t>  "descricao": "Mockup 3D de smartphone flutuante mostrando a busca 'coroa caiu' e resultados de conduta.",</a:t>
            </a:r>
          </a:p>
          <a:p xmlns:a="http://schemas.openxmlformats.org/drawingml/2006/main">
            <a:r>
              <a:t>  "prompt": "Mockup 3D realista de smartphone branco flutuando sobre bancada cinza com instrumentos odontológicos. Tela exibe barra de pesquisa 'coroa caiu' e cards de conduta. Fundo gradiente azul-petróleo. Formato 16:9.",</a:t>
            </a:r>
          </a:p>
          <a:p xmlns:a="http://schemas.openxmlformats.org/drawingml/2006/main">
            <a:r>
              <a:t>  "estilo": "Mockup 3D tecnológico"</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"tipo": "imagem_sugerida",</a:t>
            </a:r>
          </a:p>
          <a:p xmlns:a="http://schemas.openxmlformats.org/drawingml/2006/main">
            <a:r>
              <a:t>  "slide": 5,</a:t>
            </a:r>
          </a:p>
          <a:p xmlns:a="http://schemas.openxmlformats.org/drawingml/2006/main">
            <a:r>
              <a:t>  "descricao": "Fluxograma horizontal com ícones: Aluno (interrogação), Celular (lupa), Cérebro (engrenagem), Professor (check).",</a:t>
            </a:r>
          </a:p>
          <a:p xmlns:a="http://schemas.openxmlformats.org/drawingml/2006/main">
            <a:r>
              <a:t>  "prompt": "Ilustração vetorial em linha horizontal com 4 ícones grandes e setas conectivas. Ícone 1: Cabeça com interrogação. Ícone 2: Celular com lupa. Ícone 3: Cérebro com engrenagens. Ícone 4: Professor com selo de aprovação. Fundo branco, linhas em azul petróleo. Formato 16:9.",</a:t>
            </a:r>
          </a:p>
          <a:p xmlns:a="http://schemas.openxmlformats.org/drawingml/2006/main">
            <a:r>
              <a:t>  "estilo": "Vetorial de fluxo corporativo"</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"tipo": "imagem_sugerida",</a:t>
            </a:r>
          </a:p>
          <a:p xmlns:a="http://schemas.openxmlformats.org/drawingml/2006/main">
            <a:r>
              <a:t>  "slide": 6,</a:t>
            </a:r>
          </a:p>
          <a:p xmlns:a="http://schemas.openxmlformats.org/drawingml/2006/main">
            <a:r>
              <a:t>  "descricao": "Professor maduro sentado, tomando café, orientando calmamente um aluno que segura um tablet.",</a:t>
            </a:r>
          </a:p>
          <a:p xmlns:a="http://schemas.openxmlformats.org/drawingml/2006/main">
            <a:r>
              <a:t>  "prompt": "Ilustração vetorial plana. Professor de odontologia maduro, jaleco branco, sentado com caneca de café, sorrindo e apontando para tablet. Aluno jovem ao lado segura o tablet. Fundo com lousa de dentes. Cores: azul petróleo, bege e verde menta. Formato 16:9.",</a:t>
            </a:r>
          </a:p>
          <a:p xmlns:a="http://schemas.openxmlformats.org/drawingml/2006/main">
            <a:r>
              <a:t>  "estilo": "Vetorial de mentoria"</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"tipo": "imagem_sugerida",</a:t>
            </a:r>
          </a:p>
          <a:p xmlns:a="http://schemas.openxmlformats.org/drawingml/2006/main">
            <a:r>
              <a:t>  "slide": 7,</a:t>
            </a:r>
          </a:p>
          <a:p xmlns:a="http://schemas.openxmlformats.org/drawingml/2006/main">
            <a:r>
              <a:t>  "descricao": "Ícone de PDF sendo puxado para dentro de uma lupa brilhante, representando transformação digital.",</a:t>
            </a:r>
          </a:p>
          <a:p xmlns:a="http://schemas.openxmlformats.org/drawingml/2006/main">
            <a:r>
              <a:t>  "prompt": "Ilustração vetorial conceitual. PDF cinza e pasta são sugados por flecha em direção a grande lupa azul brilhante. Dentro da lupa, dados e check-verde. Fundo gradiente suave. Cores: azul petróleo e laranja. Formato 16:9.",</a:t>
            </a:r>
          </a:p>
          <a:p xmlns:a="http://schemas.openxmlformats.org/drawingml/2006/main">
            <a:r>
              <a:t>  "estilo": "Vetorial de transformação digital"</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"tipo": "imagem_sugerida",</a:t>
            </a:r>
          </a:p>
          <a:p xmlns:a="http://schemas.openxmlformats.org/drawingml/2006/main">
            <a:r>
              <a:t>  "slide": 8,</a:t>
            </a:r>
          </a:p>
          <a:p xmlns:a="http://schemas.openxmlformats.org/drawingml/2006/main">
            <a:r>
              <a:t>  "descricao": "Grande escudo verde com cadeado. Ícones com 'X' vermelho (professor, diagnóstico) e 'V' verde (apoio).",</a:t>
            </a:r>
          </a:p>
          <a:p xmlns:a="http://schemas.openxmlformats.org/drawingml/2006/main">
            <a:r>
              <a:t>  "prompt": "Ilustração vetorial com grande escudo verde no centro. À esquerda, ícones com círculo vermelho e barra (X): professor, diagnóstico. À direita, ícones com círculo verde e check (V): mãos segurando celular. Design limpo. Cores: verde, vermelho suave e azul. Formato 16:9.",</a:t>
            </a:r>
          </a:p>
          <a:p xmlns:a="http://schemas.openxmlformats.org/drawingml/2006/main">
            <a:r>
              <a:t>  "estilo": "Vetorial de segurança"</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"tipo": "imagem_sugerida",</a:t>
            </a:r>
          </a:p>
          <a:p xmlns:a="http://schemas.openxmlformats.org/drawingml/2006/main">
            <a:r>
              <a:t>  "slide": 9,</a:t>
            </a:r>
          </a:p>
          <a:p xmlns:a="http://schemas.openxmlformats.org/drawingml/2006/main">
            <a:r>
              <a:t>  "descricao": "Calendário destacando o número 30 com selo vermelho 'GRÁTIS'. Alunos e professores felizes ao redor.",</a:t>
            </a:r>
          </a:p>
          <a:p xmlns:a="http://schemas.openxmlformats.org/drawingml/2006/main">
            <a:r>
              <a:t>  "prompt": "Ilustração vetorial promocional. Calendário gigante com número 30 em destaque. Selo circular vermelho com 'GRATUITO'. Silhuetas de alunos e professores com estrelas. Cores vibrantes: azul petróleo, amarelo ouro e branco. Formato 16:9.",</a:t>
            </a:r>
          </a:p>
          <a:p xmlns:a="http://schemas.openxmlformats.org/drawingml/2006/main">
            <a:r>
              <a:t>  "estilo": "Vetorial promocional"</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"tipo": "imagem_sugerida",</a:t>
            </a:r>
          </a:p>
          <a:p xmlns:a="http://schemas.openxmlformats.org/drawingml/2006/main">
            <a:r>
              <a:t>  "slide": 10,</a:t>
            </a:r>
          </a:p>
          <a:p xmlns:a="http://schemas.openxmlformats.org/drawingml/2006/main">
            <a:r>
              <a:t>  "descricao": "Linha do tempo com 4 marcos numerados levando a uma bandeira de chegada.",</a:t>
            </a:r>
          </a:p>
          <a:p xmlns:a="http://schemas.openxmlformats.org/drawingml/2006/main">
            <a:r>
              <a:t>  "prompt": "Ilustração vetorial de estrada/linha do tempo azul. 4 marcos numerados: '1. Reunião', '2. Acessos', '3. Acompanhamento', '4. Relatório' com ícones. No final, bandeira quadriculada. Fundo branco. Cores: azul petróleo e laranja. Formato 16:9.",</a:t>
            </a:r>
          </a:p>
          <a:p xmlns:a="http://schemas.openxmlformats.org/drawingml/2006/main">
            <a:r>
              <a:t>  "estilo": "Vetorial de checklist"</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7394d74dad4b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e0dd515f104b37" /><Relationship Type="http://schemas.openxmlformats.org/officeDocument/2006/relationships/slideLayout" Target="/ppt/slideLayouts/slideLayout1.xml" Id="R8655297cea3a40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55297cea3a40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bfc3591d504529" /><Relationship Type="http://schemas.openxmlformats.org/officeDocument/2006/relationships/image" Target="/ppt/media/image.png" Id="Ra038f7c0b1304500" /><Relationship Type="http://schemas.openxmlformats.org/officeDocument/2006/relationships/notesSlide" Target="/ppt/notesSlides/notesSlide1.xml" Id="Rc7acce36a95348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59f027a89c5407c" /><Relationship Type="http://schemas.openxmlformats.org/officeDocument/2006/relationships/image" Target="/ppt/media/image2.png" Id="R1f8a00c7fbcf4dcd" /><Relationship Type="http://schemas.openxmlformats.org/officeDocument/2006/relationships/image" Target="/ppt/media/image3.png" Id="Rf90988515ec64538" /><Relationship Type="http://schemas.openxmlformats.org/officeDocument/2006/relationships/image" Target="/ppt/media/image.svg" Id="R5cd3816eb0fe4ca6" /><Relationship Type="http://schemas.openxmlformats.org/officeDocument/2006/relationships/image" Target="/ppt/media/image4.png" Id="R8590f359b27e4679" /><Relationship Type="http://schemas.openxmlformats.org/officeDocument/2006/relationships/image" Target="/ppt/media/image2.svg" Id="R9d9f5e3494dd48f4" /><Relationship Type="http://schemas.openxmlformats.org/officeDocument/2006/relationships/image" Target="/ppt/media/image5.png" Id="Rb3b4170677664334" /><Relationship Type="http://schemas.openxmlformats.org/officeDocument/2006/relationships/image" Target="/ppt/media/image3.svg" Id="Rc1f27a9056c84eb5" /><Relationship Type="http://schemas.openxmlformats.org/officeDocument/2006/relationships/notesSlide" Target="/ppt/notesSlides/notesSlide2.xml" Id="R283a67915e1842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13ac84b32c4764" /><Relationship Type="http://schemas.openxmlformats.org/officeDocument/2006/relationships/image" Target="/ppt/media/image6.png" Id="R241c01854d4844d5" /><Relationship Type="http://schemas.openxmlformats.org/officeDocument/2006/relationships/notesSlide" Target="/ppt/notesSlides/notesSlide3.xml" Id="R6cb3e50eece54f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0eb638d04a4fa8" /><Relationship Type="http://schemas.openxmlformats.org/officeDocument/2006/relationships/image" Target="/ppt/media/image7.png" Id="Rd981fcd91cc449a2" /><Relationship Type="http://schemas.openxmlformats.org/officeDocument/2006/relationships/image" Target="/ppt/media/image8.png" Id="R9e06b8f5486a4d4b" /><Relationship Type="http://schemas.openxmlformats.org/officeDocument/2006/relationships/image" Target="/ppt/media/image4.svg" Id="R1b1513eca98d468d" /><Relationship Type="http://schemas.openxmlformats.org/officeDocument/2006/relationships/image" Target="/ppt/media/image9.png" Id="R04e5b73f22cd4de9" /><Relationship Type="http://schemas.openxmlformats.org/officeDocument/2006/relationships/image" Target="/ppt/media/image5.svg" Id="Rf0a6e5d2c8e64430" /><Relationship Type="http://schemas.openxmlformats.org/officeDocument/2006/relationships/image" Target="/ppt/media/image10.png" Id="R0dfde3b901fb4550" /><Relationship Type="http://schemas.openxmlformats.org/officeDocument/2006/relationships/image" Target="/ppt/media/image6.svg" Id="Ra3380d8f5833480b" /><Relationship Type="http://schemas.openxmlformats.org/officeDocument/2006/relationships/notesSlide" Target="/ppt/notesSlides/notesSlide4.xml" Id="R479e0d9fcda64d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5aa8a9f2004c27" /><Relationship Type="http://schemas.openxmlformats.org/officeDocument/2006/relationships/image" Target="/ppt/media/image11.png" Id="Rc36a347a2e334173" /><Relationship Type="http://schemas.openxmlformats.org/officeDocument/2006/relationships/image" Target="/ppt/media/image12.png" Id="R8ab3176624734618" /><Relationship Type="http://schemas.openxmlformats.org/officeDocument/2006/relationships/image" Target="/ppt/media/image7.svg" Id="Rc6a1ba6dc75e44d6" /><Relationship Type="http://schemas.openxmlformats.org/officeDocument/2006/relationships/image" Target="/ppt/media/image13.png" Id="R8f9d6254b641464b" /><Relationship Type="http://schemas.openxmlformats.org/officeDocument/2006/relationships/image" Target="/ppt/media/image8.svg" Id="Rd4f66679c92b4376" /><Relationship Type="http://schemas.openxmlformats.org/officeDocument/2006/relationships/image" Target="/ppt/media/image14.png" Id="Rcf9acebaca7d4528" /><Relationship Type="http://schemas.openxmlformats.org/officeDocument/2006/relationships/image" Target="/ppt/media/image9.svg" Id="R6b413f6e085a4edd" /><Relationship Type="http://schemas.openxmlformats.org/officeDocument/2006/relationships/image" Target="/ppt/media/image15.png" Id="Rd300fd4fbd284f0b" /><Relationship Type="http://schemas.openxmlformats.org/officeDocument/2006/relationships/image" Target="/ppt/media/image10.svg" Id="Rbe0542bdb73546e5" /><Relationship Type="http://schemas.openxmlformats.org/officeDocument/2006/relationships/image" Target="/ppt/media/image16.png" Id="R200425f1bd1e4a81" /><Relationship Type="http://schemas.openxmlformats.org/officeDocument/2006/relationships/image" Target="/ppt/media/image11.svg" Id="R34df8695fbfa40ec" /><Relationship Type="http://schemas.openxmlformats.org/officeDocument/2006/relationships/notesSlide" Target="/ppt/notesSlides/notesSlide5.xml" Id="R70343a70c93542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8a9d76318f4987" /><Relationship Type="http://schemas.openxmlformats.org/officeDocument/2006/relationships/image" Target="/ppt/media/image17.png" Id="Ra0c4fd4ec73c454f" /><Relationship Type="http://schemas.openxmlformats.org/officeDocument/2006/relationships/image" Target="/ppt/media/image18.png" Id="Re4881d6414214a58" /><Relationship Type="http://schemas.openxmlformats.org/officeDocument/2006/relationships/image" Target="/ppt/media/image12.svg" Id="Raf76c0bfb44d414c" /><Relationship Type="http://schemas.openxmlformats.org/officeDocument/2006/relationships/image" Target="/ppt/media/image19.png" Id="R20f1d3c5ede9438b" /><Relationship Type="http://schemas.openxmlformats.org/officeDocument/2006/relationships/image" Target="/ppt/media/image13.svg" Id="R9619987269c24a6e" /><Relationship Type="http://schemas.openxmlformats.org/officeDocument/2006/relationships/image" Target="/ppt/media/image20.png" Id="R6337491770384ea7" /><Relationship Type="http://schemas.openxmlformats.org/officeDocument/2006/relationships/image" Target="/ppt/media/image14.svg" Id="R33fcf81299dd407f" /><Relationship Type="http://schemas.openxmlformats.org/officeDocument/2006/relationships/notesSlide" Target="/ppt/notesSlides/notesSlide6.xml" Id="Ra52a9b8a007841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7f6babd29c49f6" /><Relationship Type="http://schemas.openxmlformats.org/officeDocument/2006/relationships/image" Target="/ppt/media/image21.png" Id="R57516cd979614ae1" /><Relationship Type="http://schemas.openxmlformats.org/officeDocument/2006/relationships/image" Target="/ppt/media/image22.png" Id="Rc4c11fd6b01d4aef" /><Relationship Type="http://schemas.openxmlformats.org/officeDocument/2006/relationships/image" Target="/ppt/media/image15.svg" Id="Rade0c6ee051a4766" /><Relationship Type="http://schemas.openxmlformats.org/officeDocument/2006/relationships/image" Target="/ppt/media/image23.png" Id="R3f4193a2a9dd42b7" /><Relationship Type="http://schemas.openxmlformats.org/officeDocument/2006/relationships/image" Target="/ppt/media/image16.svg" Id="R57d608e9d5a44e3f" /><Relationship Type="http://schemas.openxmlformats.org/officeDocument/2006/relationships/notesSlide" Target="/ppt/notesSlides/notesSlide7.xml" Id="R10b82e60c8b840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dd87ea31234094" /><Relationship Type="http://schemas.openxmlformats.org/officeDocument/2006/relationships/image" Target="/ppt/media/image24.png" Id="Ra9e131a2a03d4b9c" /><Relationship Type="http://schemas.openxmlformats.org/officeDocument/2006/relationships/image" Target="/ppt/media/image25.png" Id="R07a1d497af764b7f" /><Relationship Type="http://schemas.openxmlformats.org/officeDocument/2006/relationships/image" Target="/ppt/media/image17.svg" Id="Ref650f9e5a0d448d" /><Relationship Type="http://schemas.openxmlformats.org/officeDocument/2006/relationships/image" Target="/ppt/media/image26.png" Id="R018abbc4f0584171" /><Relationship Type="http://schemas.openxmlformats.org/officeDocument/2006/relationships/image" Target="/ppt/media/image18.svg" Id="Rce38c70be39340d6" /><Relationship Type="http://schemas.openxmlformats.org/officeDocument/2006/relationships/image" Target="/ppt/media/image27.png" Id="R891f287c7ced4e8c" /><Relationship Type="http://schemas.openxmlformats.org/officeDocument/2006/relationships/image" Target="/ppt/media/image19.svg" Id="R0e8ffb6f033a4827" /><Relationship Type="http://schemas.openxmlformats.org/officeDocument/2006/relationships/image" Target="/ppt/media/image28.png" Id="R613e6dc2aaa6475c" /><Relationship Type="http://schemas.openxmlformats.org/officeDocument/2006/relationships/image" Target="/ppt/media/image20.svg" Id="R4653bf14a59e4939" /><Relationship Type="http://schemas.openxmlformats.org/officeDocument/2006/relationships/image" Target="/ppt/media/image29.png" Id="Rd07b15d93fb74a60" /><Relationship Type="http://schemas.openxmlformats.org/officeDocument/2006/relationships/image" Target="/ppt/media/image21.svg" Id="R39618e58d58346a8" /><Relationship Type="http://schemas.openxmlformats.org/officeDocument/2006/relationships/notesSlide" Target="/ppt/notesSlides/notesSlide8.xml" Id="R95e17767c38146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d176ed5afc7432f" /><Relationship Type="http://schemas.openxmlformats.org/officeDocument/2006/relationships/image" Target="/ppt/media/image30.png" Id="Ra44edd1742c24ba4" /><Relationship Type="http://schemas.openxmlformats.org/officeDocument/2006/relationships/notesSlide" Target="/ppt/notesSlides/notesSlide9.xml" Id="Rb78b91c633a94c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b1840d8dbc4d27" /><Relationship Type="http://schemas.openxmlformats.org/officeDocument/2006/relationships/image" Target="/ppt/media/image31.png" Id="Rfb6bb70995c84b46" /><Relationship Type="http://schemas.openxmlformats.org/officeDocument/2006/relationships/notesSlide" Target="/ppt/notesSlides/notesSlide10.xml" Id="R0c82f847da8e49b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218BCC-04D3-4B67-B52A-6C60D924E2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2E68825-E4FD-4F35-B7A0-F3EC4733DEA0}"/>
              </a:ext>
            </a:extLst>
          </p:cNvPr>
          <p:cNvSpPr>
            <a:spLocks xmlns:a="http://schemas.openxmlformats.org/drawingml/2006/main" noGrp="1"/>
          </p:cNvSpPr>
          <p:nvPr/>
        </p:nvSpPr>
        <p:spPr>
          <a:xfrm xmlns:a="http://schemas.openxmlformats.org/drawingml/2006/main">
            <a:off x="0" y="0"/>
            <a:ext cx="12192000" cy="1162050"/>
          </a:xfrm>
          <a:prstGeom xmlns:a="http://schemas.openxmlformats.org/drawingml/2006/main" prst="rect">
            <a:avLst/>
          </a:prstGeom>
          <a:solidFill xmlns:a="http://schemas.openxmlformats.org/drawingml/2006/main">
            <a:srgbClr val="0F0A1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553373F-71A2-457C-828C-9B93C118C3D7}"/>
              </a:ext>
            </a:extLst>
          </p:cNvPr>
          <p:cNvSpPr>
            <a:spLocks xmlns:a="http://schemas.openxmlformats.org/drawingml/2006/main" noGrp="1"/>
          </p:cNvSpPr>
          <p:nvPr/>
        </p:nvSpPr>
        <p:spPr>
          <a:xfrm xmlns:a="http://schemas.openxmlformats.org/drawingml/2006/main">
            <a:off x="0" y="1162050"/>
            <a:ext cx="12192000" cy="57150"/>
          </a:xfrm>
          <a:prstGeom xmlns:a="http://schemas.openxmlformats.org/drawingml/2006/main" prst="rect">
            <a:avLst/>
          </a:prstGeom>
          <a:solidFill xmlns:a="http://schemas.openxmlformats.org/drawingml/2006/main">
            <a:srgbClr val="7C3FA0"/>
          </a:solidFill>
          <a:ln xmlns:a="http://schemas.openxmlformats.org/drawingml/2006/main" w="0">
            <a:solidFill>
              <a:srgbClr val="000000">
                <a:alpha val="0"/>
              </a:srgbClr>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038f7c0b1304500"/>
          <a:stretch xmlns:a="http://schemas.openxmlformats.org/drawingml/2006/main"/>
        </p:blipFill>
        <p:spPr>
          <a:xfrm xmlns:a="http://schemas.openxmlformats.org/drawingml/2006/main">
            <a:off x="5715000" y="876300"/>
            <a:ext cx="742950" cy="742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A0B2973-7C93-4DFA-83AB-A4BAADD75585}"/>
              </a:ext>
            </a:extLst>
          </p:cNvPr>
          <p:cNvSpPr>
            <a:spLocks xmlns:a="http://schemas.openxmlformats.org/drawingml/2006/main" noGrp="1"/>
          </p:cNvSpPr>
          <p:nvPr/>
        </p:nvSpPr>
        <p:spPr>
          <a:xfrm xmlns:a="http://schemas.openxmlformats.org/drawingml/2006/main">
            <a:off x="1952625" y="2000250"/>
            <a:ext cx="8286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450" b="1">
                <a:solidFill>
                  <a:srgbClr val="7C3FA0"/>
                </a:solidFill>
              </a:defRPr>
            </a:pPr>
            <a:r>
              <a:rPr sz="3450" b="1">
                <a:solidFill>
                  <a:srgbClr val="7C3FA0"/>
                </a:solidFill>
              </a:rPr>
              <a:t>OdontoDex Acadêmico</a:t>
            </a:r>
          </a:p>
        </p:txBody>
      </p:sp>
      <p:sp>
        <p:nvSpPr>
          <p:cNvPr id="6" name="">
            <a:extLst xmlns:a="http://schemas.openxmlformats.org/drawingml/2006/main">
              <a:ext uri="{FF2B5EF4-FFF2-40B4-BE49-F238E27FC236}">
                <a16:creationId xmlns:a16="http://schemas.microsoft.com/office/drawing/2014/main" id="{C61ED4C7-D49E-46D9-B888-6D678CE9D58E}"/>
              </a:ext>
            </a:extLst>
          </p:cNvPr>
          <p:cNvSpPr>
            <a:spLocks xmlns:a="http://schemas.openxmlformats.org/drawingml/2006/main" noGrp="1"/>
          </p:cNvSpPr>
          <p:nvPr/>
        </p:nvSpPr>
        <p:spPr>
          <a:xfrm xmlns:a="http://schemas.openxmlformats.org/drawingml/2006/main">
            <a:off x="2000250" y="2876550"/>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4A1D6E"/>
                </a:solidFill>
              </a:defRPr>
            </a:pPr>
            <a:r>
              <a:rPr sz="1875" b="1">
                <a:solidFill>
                  <a:srgbClr val="4A1D6E"/>
                </a:solidFill>
              </a:rPr>
              <a:t>Da teoria para a decisão clínica supervisionada</a:t>
            </a:r>
          </a:p>
        </p:txBody>
      </p:sp>
      <p:sp>
        <p:nvSpPr>
          <p:cNvPr id="7" name="">
            <a:extLst xmlns:a="http://schemas.openxmlformats.org/drawingml/2006/main">
              <a:ext uri="{FF2B5EF4-FFF2-40B4-BE49-F238E27FC236}">
                <a16:creationId xmlns:a16="http://schemas.microsoft.com/office/drawing/2014/main" id="{1ECF5D47-0AD9-4631-B83D-60FE1B81A7B7}"/>
              </a:ext>
            </a:extLst>
          </p:cNvPr>
          <p:cNvSpPr>
            <a:spLocks xmlns:a="http://schemas.openxmlformats.org/drawingml/2006/main" noGrp="1"/>
          </p:cNvSpPr>
          <p:nvPr/>
        </p:nvSpPr>
        <p:spPr>
          <a:xfrm xmlns:a="http://schemas.openxmlformats.org/drawingml/2006/main">
            <a:off x="2476500" y="363855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0">
                <a:solidFill>
                  <a:srgbClr val="0F172A"/>
                </a:solidFill>
              </a:defRPr>
            </a:pPr>
            <a:r>
              <a:rPr sz="1575" b="0">
                <a:solidFill>
                  <a:srgbClr val="0F172A"/>
                </a:solidFill>
              </a:rPr>
              <a:t>Proposta de piloto acadêmico para clínicas-escola</a:t>
            </a:r>
          </a:p>
        </p:txBody>
      </p:sp>
      <p:sp>
        <p:nvSpPr>
          <p:cNvPr id="8" name="">
            <a:extLst xmlns:a="http://schemas.openxmlformats.org/drawingml/2006/main">
              <a:ext uri="{FF2B5EF4-FFF2-40B4-BE49-F238E27FC236}">
                <a16:creationId xmlns:a16="http://schemas.microsoft.com/office/drawing/2014/main" id="{F238B30F-39E5-464B-B6BE-9FFB8390014F}"/>
              </a:ext>
            </a:extLst>
          </p:cNvPr>
          <p:cNvSpPr>
            <a:spLocks xmlns:a="http://schemas.openxmlformats.org/drawingml/2006/main" noGrp="1"/>
          </p:cNvSpPr>
          <p:nvPr/>
        </p:nvSpPr>
        <p:spPr>
          <a:xfrm xmlns:a="http://schemas.openxmlformats.org/drawingml/2006/main">
            <a:off x="4714875" y="4333875"/>
            <a:ext cx="2762250" cy="57150"/>
          </a:xfrm>
          <a:prstGeom xmlns:a="http://schemas.openxmlformats.org/drawingml/2006/main" prst="rect">
            <a:avLst/>
          </a:prstGeom>
          <a:solidFill xmlns:a="http://schemas.openxmlformats.org/drawingml/2006/main">
            <a:srgbClr val="FBBF24"/>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C47C8E1-D530-4B1D-B299-CF6F01F48318}"/>
              </a:ext>
            </a:extLst>
          </p:cNvPr>
          <p:cNvSpPr>
            <a:spLocks xmlns:a="http://schemas.openxmlformats.org/drawingml/2006/main" noGrp="1"/>
          </p:cNvSpPr>
          <p:nvPr/>
        </p:nvSpPr>
        <p:spPr>
          <a:xfrm xmlns:a="http://schemas.openxmlformats.org/drawingml/2006/main">
            <a:off x="685800" y="6362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8A9AA2"/>
                </a:solidFill>
              </a:defRPr>
            </a:pPr>
            <a:r>
              <a:rPr sz="825" b="0">
                <a:solidFill>
                  <a:srgbClr val="8A9AA2"/>
                </a:solidFill>
              </a:rPr>
              <a:t>OdontoDex Acadêmico | Piloto para clínicas-escola</a:t>
            </a:r>
          </a:p>
        </p:txBody>
      </p:sp>
      <p:sp>
        <p:nvSpPr>
          <p:cNvPr id="10" name="">
            <a:extLst xmlns:a="http://schemas.openxmlformats.org/drawingml/2006/main">
              <a:ext uri="{FF2B5EF4-FFF2-40B4-BE49-F238E27FC236}">
                <a16:creationId xmlns:a16="http://schemas.microsoft.com/office/drawing/2014/main" id="{942515E3-14EE-49A5-A67E-0E768D7B316C}"/>
              </a:ext>
            </a:extLst>
          </p:cNvPr>
          <p:cNvSpPr>
            <a:spLocks xmlns:a="http://schemas.openxmlformats.org/drawingml/2006/main" noGrp="1"/>
          </p:cNvSpPr>
          <p:nvPr/>
        </p:nvSpPr>
        <p:spPr>
          <a:xfrm xmlns:a="http://schemas.openxmlformats.org/drawingml/2006/main">
            <a:off x="10668000" y="6419850"/>
            <a:ext cx="838200" cy="38100"/>
          </a:xfrm>
          <a:prstGeom xmlns:a="http://schemas.openxmlformats.org/drawingml/2006/main" prst="rect">
            <a:avLst/>
          </a:prstGeom>
          <a:solidFill xmlns:a="http://schemas.openxmlformats.org/drawingml/2006/main">
            <a:srgbClr val="FBBF24"/>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21314358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E1589B-94DD-4AB6-ABC5-C3F4742918FE}"/>
              </a:ext>
            </a:extLst>
          </p:cNvPr>
          <p:cNvSpPr>
            <a:spLocks xmlns:a="http://schemas.openxmlformats.org/drawingml/2006/main" noGrp="1"/>
          </p:cNvSpPr>
          <p:nvPr/>
        </p:nvSpPr>
        <p:spPr>
          <a:xfrm xmlns:a="http://schemas.openxmlformats.org/drawingml/2006/main">
            <a:off x="685800" y="514350"/>
            <a:ext cx="7524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7C3FA0"/>
                </a:solidFill>
              </a:defRPr>
            </a:pPr>
            <a:r>
              <a:rPr sz="2550" b="1">
                <a:solidFill>
                  <a:srgbClr val="7C3FA0"/>
                </a:solidFill>
              </a:rPr>
              <a:t>O que acontece hoje na clínica-escola?</a:t>
            </a:r>
          </a:p>
        </p:txBody>
      </p:sp>
      <p:sp>
        <p:nvSpPr>
          <p:cNvPr id="2" name="">
            <a:extLst xmlns:a="http://schemas.openxmlformats.org/drawingml/2006/main">
              <a:ext uri="{FF2B5EF4-FFF2-40B4-BE49-F238E27FC236}">
                <a16:creationId xmlns:a16="http://schemas.microsoft.com/office/drawing/2014/main" id="{45BBAF6D-DF33-4E4D-A78C-FBC7F9BE4E8D}"/>
              </a:ext>
            </a:extLst>
          </p:cNvPr>
          <p:cNvSpPr>
            <a:spLocks xmlns:a="http://schemas.openxmlformats.org/drawingml/2006/main" noGrp="1"/>
          </p:cNvSpPr>
          <p:nvPr/>
        </p:nvSpPr>
        <p:spPr>
          <a:xfrm xmlns:a="http://schemas.openxmlformats.org/drawingml/2006/main">
            <a:off x="685800" y="1276350"/>
            <a:ext cx="819150" cy="47625"/>
          </a:xfrm>
          <a:prstGeom xmlns:a="http://schemas.openxmlformats.org/drawingml/2006/main" prst="rect">
            <a:avLst/>
          </a:prstGeom>
          <a:solidFill xmlns:a="http://schemas.openxmlformats.org/drawingml/2006/main">
            <a:srgbClr val="7C3FA0"/>
          </a:solidFill>
          <a:ln xmlns:a="http://schemas.openxmlformats.org/drawingml/2006/main" w="0">
            <a:solidFill>
              <a:srgbClr val="000000">
                <a:alpha val="0"/>
              </a:srgbClr>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f8a00c7fbcf4dcd"/>
          <a:stretch xmlns:a="http://schemas.openxmlformats.org/drawingml/2006/main"/>
        </p:blipFill>
        <p:spPr>
          <a:xfrm xmlns:a="http://schemas.openxmlformats.org/drawingml/2006/main">
            <a:off x="11125200" y="457200"/>
            <a:ext cx="285750" cy="285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E534B13-52CF-4C6E-94F1-E621090DC87D}"/>
              </a:ext>
            </a:extLst>
          </p:cNvPr>
          <p:cNvSpPr>
            <a:spLocks xmlns:a="http://schemas.openxmlformats.org/drawingml/2006/main" noGrp="1"/>
          </p:cNvSpPr>
          <p:nvPr/>
        </p:nvSpPr>
        <p:spPr>
          <a:xfrm xmlns:a="http://schemas.openxmlformats.org/drawingml/2006/main">
            <a:off x="704850" y="2019300"/>
            <a:ext cx="3810000" cy="3048000"/>
          </a:xfrm>
          <a:prstGeom xmlns:a="http://schemas.openxmlformats.org/drawingml/2006/main" prst="roundRect">
            <a:avLst>
              <a:gd name="adj" fmla="val 3750"/>
            </a:avLst>
          </a:prstGeom>
          <a:solidFill xmlns:a="http://schemas.openxmlformats.org/drawingml/2006/main">
            <a:srgbClr val="F5EEFB"/>
          </a:solidFill>
          <a:ln xmlns:a="http://schemas.openxmlformats.org/drawingml/2006/main" w="11430">
            <a:solidFill>
              <a:srgbClr val="E9D5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43053C86-D713-4F4C-9B40-A9F19A2EE123}"/>
              </a:ext>
            </a:extLst>
          </p:cNvPr>
          <p:cNvSpPr>
            <a:spLocks xmlns:a="http://schemas.openxmlformats.org/drawingml/2006/main" noGrp="1"/>
          </p:cNvSpPr>
          <p:nvPr/>
        </p:nvSpPr>
        <p:spPr>
          <a:xfrm xmlns:a="http://schemas.openxmlformats.org/drawingml/2006/main">
            <a:off x="1066800" y="25146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7C3FA0"/>
                </a:solidFill>
              </a:defRPr>
            </a:pPr>
            <a:r>
              <a:rPr sz="2400" b="1">
                <a:solidFill>
                  <a:srgbClr val="7C3FA0"/>
                </a:solidFill>
              </a:rPr>
              <a:t>O cenário</a:t>
            </a:r>
          </a:p>
        </p:txBody>
      </p:sp>
      <p:sp>
        <p:nvSpPr>
          <p:cNvPr id="6" name="">
            <a:extLst xmlns:a="http://schemas.openxmlformats.org/drawingml/2006/main">
              <a:ext uri="{FF2B5EF4-FFF2-40B4-BE49-F238E27FC236}">
                <a16:creationId xmlns:a16="http://schemas.microsoft.com/office/drawing/2014/main" id="{18EE565C-A948-4C36-84E5-33993A4809AD}"/>
              </a:ext>
            </a:extLst>
          </p:cNvPr>
          <p:cNvSpPr>
            <a:spLocks xmlns:a="http://schemas.openxmlformats.org/drawingml/2006/main" noGrp="1"/>
          </p:cNvSpPr>
          <p:nvPr/>
        </p:nvSpPr>
        <p:spPr>
          <a:xfrm xmlns:a="http://schemas.openxmlformats.org/drawingml/2006/main">
            <a:off x="1085850" y="3105150"/>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A dor aparece no fluxo real de atendimento.</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90988515ec64538">
            <a:extLst>
              <a:ext uri="{96DAC541-7B7A-43D3-8B79-37D633B846F1}">
                <asvg:svgBlip xmlns:asvg="http://schemas.microsoft.com/office/drawing/2016/SVG/main" r:embed="R5cd3816eb0fe4ca6"/>
              </a:ext>
            </a:extLst>
          </a:blip>
          <a:stretch xmlns:a="http://schemas.openxmlformats.org/drawingml/2006/main"/>
        </p:blipFill>
        <p:spPr>
          <a:xfrm xmlns:a="http://schemas.openxmlformats.org/drawingml/2006/main">
            <a:off x="5619750" y="2209800"/>
            <a:ext cx="247650" cy="247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5770261-6DC2-466B-989F-5A498D0C4CC1}"/>
              </a:ext>
            </a:extLst>
          </p:cNvPr>
          <p:cNvSpPr>
            <a:spLocks xmlns:a="http://schemas.openxmlformats.org/drawingml/2006/main" noGrp="1"/>
          </p:cNvSpPr>
          <p:nvPr/>
        </p:nvSpPr>
        <p:spPr>
          <a:xfrm xmlns:a="http://schemas.openxmlformats.org/drawingml/2006/main">
            <a:off x="6019800" y="21907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O aluno sabe a teoria, mas trava na conduta prática.</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590f359b27e4679">
            <a:extLst>
              <a:ext uri="{96DAC541-7B7A-43D3-8B79-37D633B846F1}">
                <asvg:svgBlip xmlns:asvg="http://schemas.microsoft.com/office/drawing/2016/SVG/main" r:embed="R9d9f5e3494dd48f4"/>
              </a:ext>
            </a:extLst>
          </a:blip>
          <a:stretch xmlns:a="http://schemas.openxmlformats.org/drawingml/2006/main"/>
        </p:blipFill>
        <p:spPr>
          <a:xfrm xmlns:a="http://schemas.openxmlformats.org/drawingml/2006/main">
            <a:off x="5619750" y="3162300"/>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E585919-F6D9-40B0-B69B-802E4083FAD7}"/>
              </a:ext>
            </a:extLst>
          </p:cNvPr>
          <p:cNvSpPr>
            <a:spLocks xmlns:a="http://schemas.openxmlformats.org/drawingml/2006/main" noGrp="1"/>
          </p:cNvSpPr>
          <p:nvPr/>
        </p:nvSpPr>
        <p:spPr>
          <a:xfrm xmlns:a="http://schemas.openxmlformats.org/drawingml/2006/main">
            <a:off x="6019800" y="31432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O professor perde tempo repetindo orientações básicas.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3b4170677664334">
            <a:extLst>
              <a:ext uri="{96DAC541-7B7A-43D3-8B79-37D633B846F1}">
                <asvg:svgBlip xmlns:asvg="http://schemas.microsoft.com/office/drawing/2016/SVG/main" r:embed="Rc1f27a9056c84eb5"/>
              </a:ext>
            </a:extLst>
          </a:blip>
          <a:stretch xmlns:a="http://schemas.openxmlformats.org/drawingml/2006/main"/>
        </p:blipFill>
        <p:spPr>
          <a:xfrm xmlns:a="http://schemas.openxmlformats.org/drawingml/2006/main">
            <a:off x="5619750" y="4114800"/>
            <a:ext cx="247650" cy="2476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C616C9D-DE69-4C0C-A20B-87932EAC99EB}"/>
              </a:ext>
            </a:extLst>
          </p:cNvPr>
          <p:cNvSpPr>
            <a:spLocks xmlns:a="http://schemas.openxmlformats.org/drawingml/2006/main" noGrp="1"/>
          </p:cNvSpPr>
          <p:nvPr/>
        </p:nvSpPr>
        <p:spPr>
          <a:xfrm xmlns:a="http://schemas.openxmlformats.org/drawingml/2006/main">
            <a:off x="6019800" y="40957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A fila de dúvidas trava o fluxo de atendimento.</a:t>
            </a:r>
          </a:p>
        </p:txBody>
      </p:sp>
      <p:sp>
        <p:nvSpPr>
          <p:cNvPr id="13" name="">
            <a:extLst xmlns:a="http://schemas.openxmlformats.org/drawingml/2006/main">
              <a:ext uri="{FF2B5EF4-FFF2-40B4-BE49-F238E27FC236}">
                <a16:creationId xmlns:a16="http://schemas.microsoft.com/office/drawing/2014/main" id="{8EAF9827-E501-4B49-8DA4-254A969FC873}"/>
              </a:ext>
            </a:extLst>
          </p:cNvPr>
          <p:cNvSpPr>
            <a:spLocks xmlns:a="http://schemas.openxmlformats.org/drawingml/2006/main" noGrp="1"/>
          </p:cNvSpPr>
          <p:nvPr/>
        </p:nvSpPr>
        <p:spPr>
          <a:xfrm xmlns:a="http://schemas.openxmlformats.org/drawingml/2006/main">
            <a:off x="685800" y="6362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8A9AA2"/>
                </a:solidFill>
              </a:defRPr>
            </a:pPr>
            <a:r>
              <a:rPr sz="825" b="0">
                <a:solidFill>
                  <a:srgbClr val="8A9AA2"/>
                </a:solidFill>
              </a:rPr>
              <a:t>OdontoDex Acadêmico | Piloto para clínicas-escola</a:t>
            </a:r>
          </a:p>
        </p:txBody>
      </p:sp>
      <p:sp>
        <p:nvSpPr>
          <p:cNvPr id="14" name="">
            <a:extLst xmlns:a="http://schemas.openxmlformats.org/drawingml/2006/main">
              <a:ext uri="{FF2B5EF4-FFF2-40B4-BE49-F238E27FC236}">
                <a16:creationId xmlns:a16="http://schemas.microsoft.com/office/drawing/2014/main" id="{7CCEA5A1-FDC9-4F4C-921A-5F7CC07242EA}"/>
              </a:ext>
            </a:extLst>
          </p:cNvPr>
          <p:cNvSpPr>
            <a:spLocks xmlns:a="http://schemas.openxmlformats.org/drawingml/2006/main" noGrp="1"/>
          </p:cNvSpPr>
          <p:nvPr/>
        </p:nvSpPr>
        <p:spPr>
          <a:xfrm xmlns:a="http://schemas.openxmlformats.org/drawingml/2006/main">
            <a:off x="10668000" y="6419850"/>
            <a:ext cx="838200" cy="38100"/>
          </a:xfrm>
          <a:prstGeom xmlns:a="http://schemas.openxmlformats.org/drawingml/2006/main" prst="rect">
            <a:avLst/>
          </a:prstGeom>
          <a:solidFill xmlns:a="http://schemas.openxmlformats.org/drawingml/2006/main">
            <a:srgbClr val="FBBF24"/>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19590513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ABA219-0819-4C12-923F-12B8D99996A5}"/>
              </a:ext>
            </a:extLst>
          </p:cNvPr>
          <p:cNvSpPr>
            <a:spLocks xmlns:a="http://schemas.openxmlformats.org/drawingml/2006/main" noGrp="1"/>
          </p:cNvSpPr>
          <p:nvPr/>
        </p:nvSpPr>
        <p:spPr>
          <a:xfrm xmlns:a="http://schemas.openxmlformats.org/drawingml/2006/main">
            <a:off x="685800" y="514350"/>
            <a:ext cx="7524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7C3FA0"/>
                </a:solidFill>
              </a:defRPr>
            </a:pPr>
            <a:r>
              <a:rPr sz="2550" b="1">
                <a:solidFill>
                  <a:srgbClr val="7C3FA0"/>
                </a:solidFill>
              </a:rPr>
              <a:t>O intervalo entre 'sei a teoria' e 'vou fazer'</a:t>
            </a:r>
          </a:p>
        </p:txBody>
      </p:sp>
      <p:sp>
        <p:nvSpPr>
          <p:cNvPr id="2" name="">
            <a:extLst xmlns:a="http://schemas.openxmlformats.org/drawingml/2006/main">
              <a:ext uri="{FF2B5EF4-FFF2-40B4-BE49-F238E27FC236}">
                <a16:creationId xmlns:a16="http://schemas.microsoft.com/office/drawing/2014/main" id="{E99E2F56-F290-4624-A291-10058E5BB29F}"/>
              </a:ext>
            </a:extLst>
          </p:cNvPr>
          <p:cNvSpPr>
            <a:spLocks xmlns:a="http://schemas.openxmlformats.org/drawingml/2006/main" noGrp="1"/>
          </p:cNvSpPr>
          <p:nvPr/>
        </p:nvSpPr>
        <p:spPr>
          <a:xfrm xmlns:a="http://schemas.openxmlformats.org/drawingml/2006/main">
            <a:off x="685800" y="1276350"/>
            <a:ext cx="819150" cy="47625"/>
          </a:xfrm>
          <a:prstGeom xmlns:a="http://schemas.openxmlformats.org/drawingml/2006/main" prst="rect">
            <a:avLst/>
          </a:prstGeom>
          <a:solidFill xmlns:a="http://schemas.openxmlformats.org/drawingml/2006/main">
            <a:srgbClr val="7C3FA0"/>
          </a:solidFill>
          <a:ln xmlns:a="http://schemas.openxmlformats.org/drawingml/2006/main" w="0">
            <a:solidFill>
              <a:srgbClr val="000000">
                <a:alpha val="0"/>
              </a:srgbClr>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41c01854d4844d5"/>
          <a:stretch xmlns:a="http://schemas.openxmlformats.org/drawingml/2006/main"/>
        </p:blipFill>
        <p:spPr>
          <a:xfrm xmlns:a="http://schemas.openxmlformats.org/drawingml/2006/main">
            <a:off x="11125200" y="457200"/>
            <a:ext cx="285750" cy="285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0420C7E-C865-4179-921B-E495FD330B65}"/>
              </a:ext>
            </a:extLst>
          </p:cNvPr>
          <p:cNvSpPr>
            <a:spLocks xmlns:a="http://schemas.openxmlformats.org/drawingml/2006/main" noGrp="1"/>
          </p:cNvSpPr>
          <p:nvPr/>
        </p:nvSpPr>
        <p:spPr>
          <a:xfrm xmlns:a="http://schemas.openxmlformats.org/drawingml/2006/main">
            <a:off x="1143000" y="2381250"/>
            <a:ext cx="2190750" cy="952500"/>
          </a:xfrm>
          <a:prstGeom xmlns:a="http://schemas.openxmlformats.org/drawingml/2006/main" prst="roundRect">
            <a:avLst>
              <a:gd name="adj" fmla="val 12000"/>
            </a:avLst>
          </a:prstGeom>
          <a:solidFill xmlns:a="http://schemas.openxmlformats.org/drawingml/2006/main">
            <a:srgbClr val="F5EEFB"/>
          </a:solidFill>
          <a:ln xmlns:a="http://schemas.openxmlformats.org/drawingml/2006/main" w="11430">
            <a:solidFill>
              <a:srgbClr val="E9D5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E461E0BB-0816-4CC3-A06F-2A2BFC4A83F2}"/>
              </a:ext>
            </a:extLst>
          </p:cNvPr>
          <p:cNvSpPr>
            <a:spLocks xmlns:a="http://schemas.openxmlformats.org/drawingml/2006/main" noGrp="1"/>
          </p:cNvSpPr>
          <p:nvPr/>
        </p:nvSpPr>
        <p:spPr>
          <a:xfrm xmlns:a="http://schemas.openxmlformats.org/drawingml/2006/main">
            <a:off x="1143000" y="268605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7C3FA0"/>
                </a:solidFill>
              </a:defRPr>
            </a:pPr>
            <a:r>
              <a:rPr sz="2100" b="1">
                <a:solidFill>
                  <a:srgbClr val="7C3FA0"/>
                </a:solidFill>
              </a:rPr>
              <a:t>Teoria</a:t>
            </a:r>
          </a:p>
        </p:txBody>
      </p:sp>
      <p:sp>
        <p:nvSpPr>
          <p:cNvPr id="6" name="">
            <a:extLst xmlns:a="http://schemas.openxmlformats.org/drawingml/2006/main">
              <a:ext uri="{FF2B5EF4-FFF2-40B4-BE49-F238E27FC236}">
                <a16:creationId xmlns:a16="http://schemas.microsoft.com/office/drawing/2014/main" id="{566D5397-E194-4CAF-8D1A-14703938DF48}"/>
              </a:ext>
            </a:extLst>
          </p:cNvPr>
          <p:cNvSpPr>
            <a:spLocks xmlns:a="http://schemas.openxmlformats.org/drawingml/2006/main" noGrp="1"/>
          </p:cNvSpPr>
          <p:nvPr/>
        </p:nvSpPr>
        <p:spPr>
          <a:xfrm xmlns:a="http://schemas.openxmlformats.org/drawingml/2006/main">
            <a:off x="3638550" y="2838450"/>
            <a:ext cx="1238250" cy="38100"/>
          </a:xfrm>
          <a:prstGeom xmlns:a="http://schemas.openxmlformats.org/drawingml/2006/main" prst="rect">
            <a:avLst/>
          </a:prstGeom>
          <a:solidFill xmlns:a="http://schemas.openxmlformats.org/drawingml/2006/main">
            <a:srgbClr val="FBBF2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E98DCBE-3892-4EDD-BD9E-969ED570ECB2}"/>
              </a:ext>
            </a:extLst>
          </p:cNvPr>
          <p:cNvSpPr>
            <a:spLocks xmlns:a="http://schemas.openxmlformats.org/drawingml/2006/main" noGrp="1"/>
          </p:cNvSpPr>
          <p:nvPr/>
        </p:nvSpPr>
        <p:spPr>
          <a:xfrm xmlns:a="http://schemas.openxmlformats.org/drawingml/2006/main">
            <a:off x="5048250" y="2133600"/>
            <a:ext cx="2476500" cy="1428750"/>
          </a:xfrm>
          <a:prstGeom xmlns:a="http://schemas.openxmlformats.org/drawingml/2006/main" prst="roundRect">
            <a:avLst>
              <a:gd name="adj" fmla="val 8000"/>
            </a:avLst>
          </a:prstGeom>
          <a:solidFill xmlns:a="http://schemas.openxmlformats.org/drawingml/2006/main">
            <a:srgbClr val="FFFBEB"/>
          </a:solidFill>
          <a:ln xmlns:a="http://schemas.openxmlformats.org/drawingml/2006/main" w="11430">
            <a:solidFill>
              <a:srgbClr val="FDE68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FC5D8707-A247-4C63-B61A-4B9ECC0111C5}"/>
              </a:ext>
            </a:extLst>
          </p:cNvPr>
          <p:cNvSpPr>
            <a:spLocks xmlns:a="http://schemas.openxmlformats.org/drawingml/2006/main" noGrp="1"/>
          </p:cNvSpPr>
          <p:nvPr/>
        </p:nvSpPr>
        <p:spPr>
          <a:xfrm xmlns:a="http://schemas.openxmlformats.org/drawingml/2006/main">
            <a:off x="5162550" y="2457450"/>
            <a:ext cx="2247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FBBF24"/>
                </a:solidFill>
              </a:defRPr>
            </a:pPr>
            <a:r>
              <a:rPr sz="2250" b="1">
                <a:solidFill>
                  <a:srgbClr val="FBBF24"/>
                </a:solidFill>
              </a:rPr>
              <a:t>Grande</a:t>
            </a:r>
          </a:p>
          <a:p xmlns:a="http://schemas.openxmlformats.org/drawingml/2006/main">
            <a:pPr algn="ctr">
              <a:defRPr sz="2250" b="1">
                <a:solidFill>
                  <a:srgbClr val="FBBF24"/>
                </a:solidFill>
              </a:defRPr>
            </a:pPr>
            <a:r>
              <a:rPr sz="2250" b="1">
                <a:solidFill>
                  <a:srgbClr val="FBBF24"/>
                </a:solidFill>
              </a:rPr>
              <a:t>lacuna</a:t>
            </a:r>
          </a:p>
        </p:txBody>
      </p:sp>
      <p:sp>
        <p:nvSpPr>
          <p:cNvPr id="9" name="">
            <a:extLst xmlns:a="http://schemas.openxmlformats.org/drawingml/2006/main">
              <a:ext uri="{FF2B5EF4-FFF2-40B4-BE49-F238E27FC236}">
                <a16:creationId xmlns:a16="http://schemas.microsoft.com/office/drawing/2014/main" id="{930F89EB-B127-4B51-A9FB-39FF6C6AFB8D}"/>
              </a:ext>
            </a:extLst>
          </p:cNvPr>
          <p:cNvSpPr>
            <a:spLocks xmlns:a="http://schemas.openxmlformats.org/drawingml/2006/main" noGrp="1"/>
          </p:cNvSpPr>
          <p:nvPr/>
        </p:nvSpPr>
        <p:spPr>
          <a:xfrm xmlns:a="http://schemas.openxmlformats.org/drawingml/2006/main">
            <a:off x="7696200" y="2838450"/>
            <a:ext cx="1238250" cy="38100"/>
          </a:xfrm>
          <a:prstGeom xmlns:a="http://schemas.openxmlformats.org/drawingml/2006/main" prst="rect">
            <a:avLst/>
          </a:prstGeom>
          <a:solidFill xmlns:a="http://schemas.openxmlformats.org/drawingml/2006/main">
            <a:srgbClr val="FBBF24"/>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0CC7623-B9D1-4D8E-B4CA-FF1C86D0C5C1}"/>
              </a:ext>
            </a:extLst>
          </p:cNvPr>
          <p:cNvSpPr>
            <a:spLocks xmlns:a="http://schemas.openxmlformats.org/drawingml/2006/main" noGrp="1"/>
          </p:cNvSpPr>
          <p:nvPr/>
        </p:nvSpPr>
        <p:spPr>
          <a:xfrm xmlns:a="http://schemas.openxmlformats.org/drawingml/2006/main">
            <a:off x="9144000" y="2381250"/>
            <a:ext cx="2190750" cy="952500"/>
          </a:xfrm>
          <a:prstGeom xmlns:a="http://schemas.openxmlformats.org/drawingml/2006/main" prst="roundRect">
            <a:avLst>
              <a:gd name="adj" fmla="val 12000"/>
            </a:avLst>
          </a:prstGeom>
          <a:solidFill xmlns:a="http://schemas.openxmlformats.org/drawingml/2006/main">
            <a:srgbClr val="F5EEFB"/>
          </a:solidFill>
          <a:ln xmlns:a="http://schemas.openxmlformats.org/drawingml/2006/main" w="11430">
            <a:solidFill>
              <a:srgbClr val="E9D5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54FB8F5A-DEAE-4E7A-8765-F41FB92A6C70}"/>
              </a:ext>
            </a:extLst>
          </p:cNvPr>
          <p:cNvSpPr>
            <a:spLocks xmlns:a="http://schemas.openxmlformats.org/drawingml/2006/main" noGrp="1"/>
          </p:cNvSpPr>
          <p:nvPr/>
        </p:nvSpPr>
        <p:spPr>
          <a:xfrm xmlns:a="http://schemas.openxmlformats.org/drawingml/2006/main">
            <a:off x="9144000" y="259080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7C3FA0"/>
                </a:solidFill>
              </a:defRPr>
            </a:pPr>
            <a:r>
              <a:rPr sz="1950" b="1">
                <a:solidFill>
                  <a:srgbClr val="7C3FA0"/>
                </a:solidFill>
              </a:rPr>
              <a:t>Decisão</a:t>
            </a:r>
          </a:p>
          <a:p xmlns:a="http://schemas.openxmlformats.org/drawingml/2006/main">
            <a:pPr algn="ctr">
              <a:defRPr sz="1950" b="1">
                <a:solidFill>
                  <a:srgbClr val="7C3FA0"/>
                </a:solidFill>
              </a:defRPr>
            </a:pPr>
            <a:r>
              <a:rPr sz="1950" b="1">
                <a:solidFill>
                  <a:srgbClr val="7C3FA0"/>
                </a:solidFill>
              </a:rPr>
              <a:t>clínica</a:t>
            </a:r>
          </a:p>
        </p:txBody>
      </p:sp>
      <p:sp>
        <p:nvSpPr>
          <p:cNvPr id="12" name="">
            <a:extLst xmlns:a="http://schemas.openxmlformats.org/drawingml/2006/main">
              <a:ext uri="{FF2B5EF4-FFF2-40B4-BE49-F238E27FC236}">
                <a16:creationId xmlns:a16="http://schemas.microsoft.com/office/drawing/2014/main" id="{AF166CDD-C0C5-4BE3-93EE-1B4C58F49A17}"/>
              </a:ext>
            </a:extLst>
          </p:cNvPr>
          <p:cNvSpPr>
            <a:spLocks xmlns:a="http://schemas.openxmlformats.org/drawingml/2006/main" noGrp="1"/>
          </p:cNvSpPr>
          <p:nvPr/>
        </p:nvSpPr>
        <p:spPr>
          <a:xfrm xmlns:a="http://schemas.openxmlformats.org/drawingml/2006/main">
            <a:off x="2095500" y="4457700"/>
            <a:ext cx="800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a:solidFill>
                  <a:srgbClr val="0F172A"/>
                </a:solidFill>
              </a:defRPr>
            </a:pPr>
            <a:r>
              <a:rPr sz="1650" b="0">
                <a:solidFill>
                  <a:srgbClr val="0F172A"/>
                </a:solidFill>
              </a:rPr>
              <a:t>O aluno não tem uma ferramenta para organizar o raciocínio antes de chamar o supervisor.</a:t>
            </a:r>
          </a:p>
        </p:txBody>
      </p:sp>
      <p:sp>
        <p:nvSpPr>
          <p:cNvPr id="13" name="">
            <a:extLst xmlns:a="http://schemas.openxmlformats.org/drawingml/2006/main">
              <a:ext uri="{FF2B5EF4-FFF2-40B4-BE49-F238E27FC236}">
                <a16:creationId xmlns:a16="http://schemas.microsoft.com/office/drawing/2014/main" id="{A525E014-CBE6-4F9C-A6E7-DED724475682}"/>
              </a:ext>
            </a:extLst>
          </p:cNvPr>
          <p:cNvSpPr>
            <a:spLocks xmlns:a="http://schemas.openxmlformats.org/drawingml/2006/main" noGrp="1"/>
          </p:cNvSpPr>
          <p:nvPr/>
        </p:nvSpPr>
        <p:spPr>
          <a:xfrm xmlns:a="http://schemas.openxmlformats.org/drawingml/2006/main">
            <a:off x="685800" y="6362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8A9AA2"/>
                </a:solidFill>
              </a:defRPr>
            </a:pPr>
            <a:r>
              <a:rPr sz="825" b="0">
                <a:solidFill>
                  <a:srgbClr val="8A9AA2"/>
                </a:solidFill>
              </a:rPr>
              <a:t>OdontoDex Acadêmico | Piloto para clínicas-escola</a:t>
            </a:r>
          </a:p>
        </p:txBody>
      </p:sp>
      <p:sp>
        <p:nvSpPr>
          <p:cNvPr id="14" name="">
            <a:extLst xmlns:a="http://schemas.openxmlformats.org/drawingml/2006/main">
              <a:ext uri="{FF2B5EF4-FFF2-40B4-BE49-F238E27FC236}">
                <a16:creationId xmlns:a16="http://schemas.microsoft.com/office/drawing/2014/main" id="{62D90C4B-183A-4B0F-996F-FA65AAC8F06F}"/>
              </a:ext>
            </a:extLst>
          </p:cNvPr>
          <p:cNvSpPr>
            <a:spLocks xmlns:a="http://schemas.openxmlformats.org/drawingml/2006/main" noGrp="1"/>
          </p:cNvSpPr>
          <p:nvPr/>
        </p:nvSpPr>
        <p:spPr>
          <a:xfrm xmlns:a="http://schemas.openxmlformats.org/drawingml/2006/main">
            <a:off x="10668000" y="6419850"/>
            <a:ext cx="838200" cy="38100"/>
          </a:xfrm>
          <a:prstGeom xmlns:a="http://schemas.openxmlformats.org/drawingml/2006/main" prst="rect">
            <a:avLst/>
          </a:prstGeom>
          <a:solidFill xmlns:a="http://schemas.openxmlformats.org/drawingml/2006/main">
            <a:srgbClr val="FBBF24"/>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4305631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1496F2C-2AED-43F7-B2BA-A75D7B3BBCCE}"/>
              </a:ext>
            </a:extLst>
          </p:cNvPr>
          <p:cNvSpPr>
            <a:spLocks xmlns:a="http://schemas.openxmlformats.org/drawingml/2006/main" noGrp="1"/>
          </p:cNvSpPr>
          <p:nvPr/>
        </p:nvSpPr>
        <p:spPr>
          <a:xfrm xmlns:a="http://schemas.openxmlformats.org/drawingml/2006/main">
            <a:off x="685800" y="514350"/>
            <a:ext cx="7524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7C3FA0"/>
                </a:solidFill>
              </a:defRPr>
            </a:pPr>
            <a:r>
              <a:rPr sz="2550" b="1">
                <a:solidFill>
                  <a:srgbClr val="7C3FA0"/>
                </a:solidFill>
              </a:rPr>
              <a:t>OdontoDex: A camada de apoio</a:t>
            </a:r>
          </a:p>
        </p:txBody>
      </p:sp>
      <p:sp>
        <p:nvSpPr>
          <p:cNvPr id="2" name="">
            <a:extLst xmlns:a="http://schemas.openxmlformats.org/drawingml/2006/main">
              <a:ext uri="{FF2B5EF4-FFF2-40B4-BE49-F238E27FC236}">
                <a16:creationId xmlns:a16="http://schemas.microsoft.com/office/drawing/2014/main" id="{E37157D0-5185-4449-8BF4-1F789136BCC2}"/>
              </a:ext>
            </a:extLst>
          </p:cNvPr>
          <p:cNvSpPr>
            <a:spLocks xmlns:a="http://schemas.openxmlformats.org/drawingml/2006/main" noGrp="1"/>
          </p:cNvSpPr>
          <p:nvPr/>
        </p:nvSpPr>
        <p:spPr>
          <a:xfrm xmlns:a="http://schemas.openxmlformats.org/drawingml/2006/main">
            <a:off x="685800" y="1276350"/>
            <a:ext cx="819150" cy="47625"/>
          </a:xfrm>
          <a:prstGeom xmlns:a="http://schemas.openxmlformats.org/drawingml/2006/main" prst="rect">
            <a:avLst/>
          </a:prstGeom>
          <a:solidFill xmlns:a="http://schemas.openxmlformats.org/drawingml/2006/main">
            <a:srgbClr val="7C3FA0"/>
          </a:solidFill>
          <a:ln xmlns:a="http://schemas.openxmlformats.org/drawingml/2006/main" w="0">
            <a:solidFill>
              <a:srgbClr val="000000">
                <a:alpha val="0"/>
              </a:srgbClr>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981fcd91cc449a2"/>
          <a:stretch xmlns:a="http://schemas.openxmlformats.org/drawingml/2006/main"/>
        </p:blipFill>
        <p:spPr>
          <a:xfrm xmlns:a="http://schemas.openxmlformats.org/drawingml/2006/main">
            <a:off x="11125200" y="457200"/>
            <a:ext cx="285750" cy="28575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e06b8f5486a4d4b">
            <a:extLst>
              <a:ext uri="{96DAC541-7B7A-43D3-8B79-37D633B846F1}">
                <asvg:svgBlip xmlns:asvg="http://schemas.microsoft.com/office/drawing/2016/SVG/main" r:embed="R1b1513eca98d468d"/>
              </a:ext>
            </a:extLst>
          </a:blip>
          <a:stretch xmlns:a="http://schemas.openxmlformats.org/drawingml/2006/main"/>
        </p:blipFill>
        <p:spPr>
          <a:xfrm xmlns:a="http://schemas.openxmlformats.org/drawingml/2006/main">
            <a:off x="857250" y="2209800"/>
            <a:ext cx="247650" cy="247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12DC129-1127-47EB-9C4C-97D389F9933E}"/>
              </a:ext>
            </a:extLst>
          </p:cNvPr>
          <p:cNvSpPr>
            <a:spLocks xmlns:a="http://schemas.openxmlformats.org/drawingml/2006/main" noGrp="1"/>
          </p:cNvSpPr>
          <p:nvPr/>
        </p:nvSpPr>
        <p:spPr>
          <a:xfrm xmlns:a="http://schemas.openxmlformats.org/drawingml/2006/main">
            <a:off x="1257300" y="21907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Digite a dúvida do jeito que ela aparece, como “coroa caiu”.</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4e5b73f22cd4de9">
            <a:extLst>
              <a:ext uri="{96DAC541-7B7A-43D3-8B79-37D633B846F1}">
                <asvg:svgBlip xmlns:asvg="http://schemas.microsoft.com/office/drawing/2016/SVG/main" r:embed="Rf0a6e5d2c8e64430"/>
              </a:ext>
            </a:extLst>
          </a:blip>
          <a:stretch xmlns:a="http://schemas.openxmlformats.org/drawingml/2006/main"/>
        </p:blipFill>
        <p:spPr>
          <a:xfrm xmlns:a="http://schemas.openxmlformats.org/drawingml/2006/main">
            <a:off x="857250" y="3162300"/>
            <a:ext cx="247650" cy="247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DF06AE7-A93A-4047-A9A1-3F786A0EA7A2}"/>
              </a:ext>
            </a:extLst>
          </p:cNvPr>
          <p:cNvSpPr>
            <a:spLocks xmlns:a="http://schemas.openxmlformats.org/drawingml/2006/main" noGrp="1"/>
          </p:cNvSpPr>
          <p:nvPr/>
        </p:nvSpPr>
        <p:spPr>
          <a:xfrm xmlns:a="http://schemas.openxmlformats.org/drawingml/2006/main">
            <a:off x="1257300" y="31432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Encontre condutas rápidas, protocolos e prescrições.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dfde3b901fb4550">
            <a:extLst>
              <a:ext uri="{96DAC541-7B7A-43D3-8B79-37D633B846F1}">
                <asvg:svgBlip xmlns:asvg="http://schemas.microsoft.com/office/drawing/2016/SVG/main" r:embed="Ra3380d8f5833480b"/>
              </a:ext>
            </a:extLst>
          </a:blip>
          <a:stretch xmlns:a="http://schemas.openxmlformats.org/drawingml/2006/main"/>
        </p:blipFill>
        <p:spPr>
          <a:xfrm xmlns:a="http://schemas.openxmlformats.org/drawingml/2006/main">
            <a:off x="857250" y="4114800"/>
            <a:ext cx="247650" cy="2476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DDE8A8F-8F4E-4522-9C52-86432B7467D9}"/>
              </a:ext>
            </a:extLst>
          </p:cNvPr>
          <p:cNvSpPr>
            <a:spLocks xmlns:a="http://schemas.openxmlformats.org/drawingml/2006/main" noGrp="1"/>
          </p:cNvSpPr>
          <p:nvPr/>
        </p:nvSpPr>
        <p:spPr>
          <a:xfrm xmlns:a="http://schemas.openxmlformats.org/drawingml/2006/main">
            <a:off x="1257300" y="40957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Organize o raciocínio antes de discutir com o professor.</a:t>
            </a:r>
          </a:p>
        </p:txBody>
      </p:sp>
      <p:sp>
        <p:nvSpPr>
          <p:cNvPr id="10" name="">
            <a:extLst xmlns:a="http://schemas.openxmlformats.org/drawingml/2006/main">
              <a:ext uri="{FF2B5EF4-FFF2-40B4-BE49-F238E27FC236}">
                <a16:creationId xmlns:a16="http://schemas.microsoft.com/office/drawing/2014/main" id="{54E4DAAC-2D2F-4875-9065-513749D2B131}"/>
              </a:ext>
            </a:extLst>
          </p:cNvPr>
          <p:cNvSpPr>
            <a:spLocks xmlns:a="http://schemas.openxmlformats.org/drawingml/2006/main" noGrp="1"/>
          </p:cNvSpPr>
          <p:nvPr/>
        </p:nvSpPr>
        <p:spPr>
          <a:xfrm xmlns:a="http://schemas.openxmlformats.org/drawingml/2006/main">
            <a:off x="7810500" y="1952625"/>
            <a:ext cx="3143250" cy="2762250"/>
          </a:xfrm>
          <a:prstGeom xmlns:a="http://schemas.openxmlformats.org/drawingml/2006/main" prst="roundRect">
            <a:avLst>
              <a:gd name="adj" fmla="val 4138"/>
            </a:avLst>
          </a:prstGeom>
          <a:solidFill xmlns:a="http://schemas.openxmlformats.org/drawingml/2006/main">
            <a:srgbClr val="F5EEFB"/>
          </a:solidFill>
          <a:ln xmlns:a="http://schemas.openxmlformats.org/drawingml/2006/main" w="11430">
            <a:solidFill>
              <a:srgbClr val="E9D5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F839BF68-D884-4BEC-8E5A-A975D7726D9E}"/>
              </a:ext>
            </a:extLst>
          </p:cNvPr>
          <p:cNvSpPr>
            <a:spLocks xmlns:a="http://schemas.openxmlformats.org/drawingml/2006/main" noGrp="1"/>
          </p:cNvSpPr>
          <p:nvPr/>
        </p:nvSpPr>
        <p:spPr>
          <a:xfrm xmlns:a="http://schemas.openxmlformats.org/drawingml/2006/main">
            <a:off x="9029700" y="2571750"/>
            <a:ext cx="704850" cy="704850"/>
          </a:xfrm>
          <a:prstGeom xmlns:a="http://schemas.openxmlformats.org/drawingml/2006/main" prst="ellipse">
            <a:avLst/>
          </a:prstGeom>
          <a:solidFill xmlns:a="http://schemas.openxmlformats.org/drawingml/2006/main">
            <a:srgbClr val="7C3FA0"/>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1A5DD06-DF55-4E60-84B6-D0A94001647B}"/>
              </a:ext>
            </a:extLst>
          </p:cNvPr>
          <p:cNvSpPr>
            <a:spLocks xmlns:a="http://schemas.openxmlformats.org/drawingml/2006/main" noGrp="1"/>
          </p:cNvSpPr>
          <p:nvPr/>
        </p:nvSpPr>
        <p:spPr>
          <a:xfrm xmlns:a="http://schemas.openxmlformats.org/drawingml/2006/main">
            <a:off x="8553450" y="3600450"/>
            <a:ext cx="1676400" cy="76200"/>
          </a:xfrm>
          <a:prstGeom xmlns:a="http://schemas.openxmlformats.org/drawingml/2006/main" prst="rect">
            <a:avLst/>
          </a:prstGeom>
          <a:solidFill xmlns:a="http://schemas.openxmlformats.org/drawingml/2006/main">
            <a:srgbClr val="7C3FA0"/>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126BF06B-69E2-401E-B3B2-DB5D5C10942A}"/>
              </a:ext>
            </a:extLst>
          </p:cNvPr>
          <p:cNvSpPr>
            <a:spLocks xmlns:a="http://schemas.openxmlformats.org/drawingml/2006/main" noGrp="1"/>
          </p:cNvSpPr>
          <p:nvPr/>
        </p:nvSpPr>
        <p:spPr>
          <a:xfrm xmlns:a="http://schemas.openxmlformats.org/drawingml/2006/main">
            <a:off x="8334375" y="39052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7C3FA0"/>
                </a:solidFill>
              </a:defRPr>
            </a:pPr>
            <a:r>
              <a:rPr sz="1350" b="1">
                <a:solidFill>
                  <a:srgbClr val="7C3FA0"/>
                </a:solidFill>
              </a:rPr>
              <a:t>Mockup sugerido nas notas</a:t>
            </a:r>
          </a:p>
        </p:txBody>
      </p:sp>
      <p:sp>
        <p:nvSpPr>
          <p:cNvPr id="14" name="">
            <a:extLst xmlns:a="http://schemas.openxmlformats.org/drawingml/2006/main">
              <a:ext uri="{FF2B5EF4-FFF2-40B4-BE49-F238E27FC236}">
                <a16:creationId xmlns:a16="http://schemas.microsoft.com/office/drawing/2014/main" id="{09EBF314-4D0E-4641-A5D0-8EDA789307DF}"/>
              </a:ext>
            </a:extLst>
          </p:cNvPr>
          <p:cNvSpPr>
            <a:spLocks xmlns:a="http://schemas.openxmlformats.org/drawingml/2006/main" noGrp="1"/>
          </p:cNvSpPr>
          <p:nvPr/>
        </p:nvSpPr>
        <p:spPr>
          <a:xfrm xmlns:a="http://schemas.openxmlformats.org/drawingml/2006/main">
            <a:off x="685800" y="6362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8A9AA2"/>
                </a:solidFill>
              </a:defRPr>
            </a:pPr>
            <a:r>
              <a:rPr sz="825" b="0">
                <a:solidFill>
                  <a:srgbClr val="8A9AA2"/>
                </a:solidFill>
              </a:rPr>
              <a:t>OdontoDex Acadêmico | Piloto para clínicas-escola</a:t>
            </a:r>
          </a:p>
        </p:txBody>
      </p:sp>
      <p:sp>
        <p:nvSpPr>
          <p:cNvPr id="15" name="">
            <a:extLst xmlns:a="http://schemas.openxmlformats.org/drawingml/2006/main">
              <a:ext uri="{FF2B5EF4-FFF2-40B4-BE49-F238E27FC236}">
                <a16:creationId xmlns:a16="http://schemas.microsoft.com/office/drawing/2014/main" id="{C23098A6-14C2-4BAF-9F4D-F5B6A983BEF1}"/>
              </a:ext>
            </a:extLst>
          </p:cNvPr>
          <p:cNvSpPr>
            <a:spLocks xmlns:a="http://schemas.openxmlformats.org/drawingml/2006/main" noGrp="1"/>
          </p:cNvSpPr>
          <p:nvPr/>
        </p:nvSpPr>
        <p:spPr>
          <a:xfrm xmlns:a="http://schemas.openxmlformats.org/drawingml/2006/main">
            <a:off x="10668000" y="6419850"/>
            <a:ext cx="838200" cy="38100"/>
          </a:xfrm>
          <a:prstGeom xmlns:a="http://schemas.openxmlformats.org/drawingml/2006/main" prst="rect">
            <a:avLst/>
          </a:prstGeom>
          <a:solidFill xmlns:a="http://schemas.openxmlformats.org/drawingml/2006/main">
            <a:srgbClr val="FBBF24"/>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4385397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5BA51D4-1FE4-400E-93A2-79F9618097C8}"/>
              </a:ext>
            </a:extLst>
          </p:cNvPr>
          <p:cNvSpPr>
            <a:spLocks xmlns:a="http://schemas.openxmlformats.org/drawingml/2006/main" noGrp="1"/>
          </p:cNvSpPr>
          <p:nvPr/>
        </p:nvSpPr>
        <p:spPr>
          <a:xfrm xmlns:a="http://schemas.openxmlformats.org/drawingml/2006/main">
            <a:off x="685800" y="514350"/>
            <a:ext cx="7524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7C3FA0"/>
                </a:solidFill>
              </a:defRPr>
            </a:pPr>
            <a:r>
              <a:rPr sz="2550" b="1">
                <a:solidFill>
                  <a:srgbClr val="7C3FA0"/>
                </a:solidFill>
              </a:rPr>
              <a:t>O app não decide. O app prepara.</a:t>
            </a:r>
          </a:p>
        </p:txBody>
      </p:sp>
      <p:sp>
        <p:nvSpPr>
          <p:cNvPr id="2" name="">
            <a:extLst xmlns:a="http://schemas.openxmlformats.org/drawingml/2006/main">
              <a:ext uri="{FF2B5EF4-FFF2-40B4-BE49-F238E27FC236}">
                <a16:creationId xmlns:a16="http://schemas.microsoft.com/office/drawing/2014/main" id="{AC9EE1C0-96D4-4AB7-8F8B-5348BB513948}"/>
              </a:ext>
            </a:extLst>
          </p:cNvPr>
          <p:cNvSpPr>
            <a:spLocks xmlns:a="http://schemas.openxmlformats.org/drawingml/2006/main" noGrp="1"/>
          </p:cNvSpPr>
          <p:nvPr/>
        </p:nvSpPr>
        <p:spPr>
          <a:xfrm xmlns:a="http://schemas.openxmlformats.org/drawingml/2006/main">
            <a:off x="685800" y="1276350"/>
            <a:ext cx="819150" cy="47625"/>
          </a:xfrm>
          <a:prstGeom xmlns:a="http://schemas.openxmlformats.org/drawingml/2006/main" prst="rect">
            <a:avLst/>
          </a:prstGeom>
          <a:solidFill xmlns:a="http://schemas.openxmlformats.org/drawingml/2006/main">
            <a:srgbClr val="7C3FA0"/>
          </a:solidFill>
          <a:ln xmlns:a="http://schemas.openxmlformats.org/drawingml/2006/main" w="0">
            <a:solidFill>
              <a:srgbClr val="000000">
                <a:alpha val="0"/>
              </a:srgbClr>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36a347a2e334173"/>
          <a:stretch xmlns:a="http://schemas.openxmlformats.org/drawingml/2006/main"/>
        </p:blipFill>
        <p:spPr>
          <a:xfrm xmlns:a="http://schemas.openxmlformats.org/drawingml/2006/main">
            <a:off x="11125200" y="457200"/>
            <a:ext cx="285750" cy="285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DE44BBA-CDFF-4C49-8814-408F5D69E7EA}"/>
              </a:ext>
            </a:extLst>
          </p:cNvPr>
          <p:cNvSpPr>
            <a:spLocks xmlns:a="http://schemas.openxmlformats.org/drawingml/2006/main" noGrp="1"/>
          </p:cNvSpPr>
          <p:nvPr/>
        </p:nvSpPr>
        <p:spPr>
          <a:xfrm xmlns:a="http://schemas.openxmlformats.org/drawingml/2006/main">
            <a:off x="685800" y="2619375"/>
            <a:ext cx="1714500" cy="1238250"/>
          </a:xfrm>
          <a:prstGeom xmlns:a="http://schemas.openxmlformats.org/drawingml/2006/main" prst="roundRect">
            <a:avLst>
              <a:gd name="adj" fmla="val 9231"/>
            </a:avLst>
          </a:prstGeom>
          <a:solidFill xmlns:a="http://schemas.openxmlformats.org/drawingml/2006/main">
            <a:srgbClr val="F3F7FB"/>
          </a:solidFill>
          <a:ln xmlns:a="http://schemas.openxmlformats.org/drawingml/2006/main" w="11430">
            <a:solidFill>
              <a:srgbClr val="DCE5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8ab3176624734618">
            <a:extLst>
              <a:ext uri="{96DAC541-7B7A-43D3-8B79-37D633B846F1}">
                <asvg:svgBlip xmlns:asvg="http://schemas.microsoft.com/office/drawing/2016/SVG/main" r:embed="Rc6a1ba6dc75e44d6"/>
              </a:ext>
            </a:extLst>
          </a:blip>
          <a:stretch xmlns:a="http://schemas.openxmlformats.org/drawingml/2006/main"/>
        </p:blipFill>
        <p:spPr>
          <a:xfrm xmlns:a="http://schemas.openxmlformats.org/drawingml/2006/main">
            <a:off x="1371600" y="2876550"/>
            <a:ext cx="342900" cy="3429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0251E95-B0D4-469D-90A7-33F0DCF46044}"/>
              </a:ext>
            </a:extLst>
          </p:cNvPr>
          <p:cNvSpPr>
            <a:spLocks xmlns:a="http://schemas.openxmlformats.org/drawingml/2006/main" noGrp="1"/>
          </p:cNvSpPr>
          <p:nvPr/>
        </p:nvSpPr>
        <p:spPr>
          <a:xfrm xmlns:a="http://schemas.openxmlformats.org/drawingml/2006/main">
            <a:off x="857250" y="33909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0F172A"/>
                </a:solidFill>
              </a:defRPr>
            </a:pPr>
            <a:r>
              <a:rPr sz="1275" b="1">
                <a:solidFill>
                  <a:srgbClr val="0F172A"/>
                </a:solidFill>
              </a:rPr>
              <a:t>Aluno com dúvida</a:t>
            </a:r>
          </a:p>
        </p:txBody>
      </p:sp>
      <p:sp>
        <p:nvSpPr>
          <p:cNvPr id="7" name="">
            <a:extLst xmlns:a="http://schemas.openxmlformats.org/drawingml/2006/main">
              <a:ext uri="{FF2B5EF4-FFF2-40B4-BE49-F238E27FC236}">
                <a16:creationId xmlns:a16="http://schemas.microsoft.com/office/drawing/2014/main" id="{9DB3B730-C4CC-4710-B4BC-65256BADB323}"/>
              </a:ext>
            </a:extLst>
          </p:cNvPr>
          <p:cNvSpPr>
            <a:spLocks xmlns:a="http://schemas.openxmlformats.org/drawingml/2006/main" noGrp="1"/>
          </p:cNvSpPr>
          <p:nvPr/>
        </p:nvSpPr>
        <p:spPr>
          <a:xfrm xmlns:a="http://schemas.openxmlformats.org/drawingml/2006/main">
            <a:off x="2476500" y="3086100"/>
            <a:ext cx="42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BBF24"/>
                </a:solidFill>
              </a:defRPr>
            </a:pPr>
            <a:r>
              <a:rPr sz="2100" b="1">
                <a:solidFill>
                  <a:srgbClr val="FBBF24"/>
                </a:solidFill>
              </a:rPr>
              <a:t>➜</a:t>
            </a:r>
          </a:p>
        </p:txBody>
      </p:sp>
      <p:sp>
        <p:nvSpPr>
          <p:cNvPr id="8" name="">
            <a:extLst xmlns:a="http://schemas.openxmlformats.org/drawingml/2006/main">
              <a:ext uri="{FF2B5EF4-FFF2-40B4-BE49-F238E27FC236}">
                <a16:creationId xmlns:a16="http://schemas.microsoft.com/office/drawing/2014/main" id="{87C7EABB-6E90-48EA-9C26-64D83A617E20}"/>
              </a:ext>
            </a:extLst>
          </p:cNvPr>
          <p:cNvSpPr>
            <a:spLocks xmlns:a="http://schemas.openxmlformats.org/drawingml/2006/main" noGrp="1"/>
          </p:cNvSpPr>
          <p:nvPr/>
        </p:nvSpPr>
        <p:spPr>
          <a:xfrm xmlns:a="http://schemas.openxmlformats.org/drawingml/2006/main">
            <a:off x="2952750" y="2619375"/>
            <a:ext cx="1714500" cy="1238250"/>
          </a:xfrm>
          <a:prstGeom xmlns:a="http://schemas.openxmlformats.org/drawingml/2006/main" prst="roundRect">
            <a:avLst>
              <a:gd name="adj" fmla="val 9231"/>
            </a:avLst>
          </a:prstGeom>
          <a:solidFill xmlns:a="http://schemas.openxmlformats.org/drawingml/2006/main">
            <a:srgbClr val="F3F7FB"/>
          </a:solidFill>
          <a:ln xmlns:a="http://schemas.openxmlformats.org/drawingml/2006/main" w="11430">
            <a:solidFill>
              <a:srgbClr val="DCE5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f9d6254b641464b">
            <a:extLst>
              <a:ext uri="{96DAC541-7B7A-43D3-8B79-37D633B846F1}">
                <asvg:svgBlip xmlns:asvg="http://schemas.microsoft.com/office/drawing/2016/SVG/main" r:embed="Rd4f66679c92b4376"/>
              </a:ext>
            </a:extLst>
          </a:blip>
          <a:stretch xmlns:a="http://schemas.openxmlformats.org/drawingml/2006/main"/>
        </p:blipFill>
        <p:spPr>
          <a:xfrm xmlns:a="http://schemas.openxmlformats.org/drawingml/2006/main">
            <a:off x="3638550" y="2876550"/>
            <a:ext cx="342900" cy="3429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6F802AA-61C4-4D87-8658-5987CC28F4C7}"/>
              </a:ext>
            </a:extLst>
          </p:cNvPr>
          <p:cNvSpPr>
            <a:spLocks xmlns:a="http://schemas.openxmlformats.org/drawingml/2006/main" noGrp="1"/>
          </p:cNvSpPr>
          <p:nvPr/>
        </p:nvSpPr>
        <p:spPr>
          <a:xfrm xmlns:a="http://schemas.openxmlformats.org/drawingml/2006/main">
            <a:off x="3124200" y="33909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0F172A"/>
                </a:solidFill>
              </a:defRPr>
            </a:pPr>
            <a:r>
              <a:rPr sz="1275" b="1">
                <a:solidFill>
                  <a:srgbClr val="0F172A"/>
                </a:solidFill>
              </a:rPr>
              <a:t>Consulta o OdontoDex</a:t>
            </a:r>
          </a:p>
        </p:txBody>
      </p:sp>
      <p:sp>
        <p:nvSpPr>
          <p:cNvPr id="11" name="">
            <a:extLst xmlns:a="http://schemas.openxmlformats.org/drawingml/2006/main">
              <a:ext uri="{FF2B5EF4-FFF2-40B4-BE49-F238E27FC236}">
                <a16:creationId xmlns:a16="http://schemas.microsoft.com/office/drawing/2014/main" id="{61D9D938-B446-499C-A424-4A274733A28A}"/>
              </a:ext>
            </a:extLst>
          </p:cNvPr>
          <p:cNvSpPr>
            <a:spLocks xmlns:a="http://schemas.openxmlformats.org/drawingml/2006/main" noGrp="1"/>
          </p:cNvSpPr>
          <p:nvPr/>
        </p:nvSpPr>
        <p:spPr>
          <a:xfrm xmlns:a="http://schemas.openxmlformats.org/drawingml/2006/main">
            <a:off x="4743450" y="3086100"/>
            <a:ext cx="42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BBF24"/>
                </a:solidFill>
              </a:defRPr>
            </a:pPr>
            <a:r>
              <a:rPr sz="2100" b="1">
                <a:solidFill>
                  <a:srgbClr val="FBBF24"/>
                </a:solidFill>
              </a:rPr>
              <a:t>➜</a:t>
            </a:r>
          </a:p>
        </p:txBody>
      </p:sp>
      <p:sp>
        <p:nvSpPr>
          <p:cNvPr id="12" name="">
            <a:extLst xmlns:a="http://schemas.openxmlformats.org/drawingml/2006/main">
              <a:ext uri="{FF2B5EF4-FFF2-40B4-BE49-F238E27FC236}">
                <a16:creationId xmlns:a16="http://schemas.microsoft.com/office/drawing/2014/main" id="{C9D1F1C7-E8ED-4D4E-9684-F913CFBFBBB8}"/>
              </a:ext>
            </a:extLst>
          </p:cNvPr>
          <p:cNvSpPr>
            <a:spLocks xmlns:a="http://schemas.openxmlformats.org/drawingml/2006/main" noGrp="1"/>
          </p:cNvSpPr>
          <p:nvPr/>
        </p:nvSpPr>
        <p:spPr>
          <a:xfrm xmlns:a="http://schemas.openxmlformats.org/drawingml/2006/main">
            <a:off x="5219700" y="2619375"/>
            <a:ext cx="1714500" cy="1238250"/>
          </a:xfrm>
          <a:prstGeom xmlns:a="http://schemas.openxmlformats.org/drawingml/2006/main" prst="roundRect">
            <a:avLst>
              <a:gd name="adj" fmla="val 9231"/>
            </a:avLst>
          </a:prstGeom>
          <a:solidFill xmlns:a="http://schemas.openxmlformats.org/drawingml/2006/main">
            <a:srgbClr val="F3F7FB"/>
          </a:solidFill>
          <a:ln xmlns:a="http://schemas.openxmlformats.org/drawingml/2006/main" w="11430">
            <a:solidFill>
              <a:srgbClr val="DCE5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cf9acebaca7d4528">
            <a:extLst>
              <a:ext uri="{96DAC541-7B7A-43D3-8B79-37D633B846F1}">
                <asvg:svgBlip xmlns:asvg="http://schemas.microsoft.com/office/drawing/2016/SVG/main" r:embed="R6b413f6e085a4edd"/>
              </a:ext>
            </a:extLst>
          </a:blip>
          <a:stretch xmlns:a="http://schemas.openxmlformats.org/drawingml/2006/main"/>
        </p:blipFill>
        <p:spPr>
          <a:xfrm xmlns:a="http://schemas.openxmlformats.org/drawingml/2006/main">
            <a:off x="5905500" y="2876550"/>
            <a:ext cx="342900" cy="3429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7A21C2E-F0AD-4B95-8496-1177E23DD46D}"/>
              </a:ext>
            </a:extLst>
          </p:cNvPr>
          <p:cNvSpPr>
            <a:spLocks xmlns:a="http://schemas.openxmlformats.org/drawingml/2006/main" noGrp="1"/>
          </p:cNvSpPr>
          <p:nvPr/>
        </p:nvSpPr>
        <p:spPr>
          <a:xfrm xmlns:a="http://schemas.openxmlformats.org/drawingml/2006/main">
            <a:off x="5391150" y="33909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0F172A"/>
                </a:solidFill>
              </a:defRPr>
            </a:pPr>
            <a:r>
              <a:rPr sz="1275" b="1">
                <a:solidFill>
                  <a:srgbClr val="0F172A"/>
                </a:solidFill>
              </a:rPr>
              <a:t>Organiza o raciocínio</a:t>
            </a:r>
          </a:p>
        </p:txBody>
      </p:sp>
      <p:sp>
        <p:nvSpPr>
          <p:cNvPr id="15" name="">
            <a:extLst xmlns:a="http://schemas.openxmlformats.org/drawingml/2006/main">
              <a:ext uri="{FF2B5EF4-FFF2-40B4-BE49-F238E27FC236}">
                <a16:creationId xmlns:a16="http://schemas.microsoft.com/office/drawing/2014/main" id="{C4B2FE8E-C72B-42E4-A34D-88E3652A470F}"/>
              </a:ext>
            </a:extLst>
          </p:cNvPr>
          <p:cNvSpPr>
            <a:spLocks xmlns:a="http://schemas.openxmlformats.org/drawingml/2006/main" noGrp="1"/>
          </p:cNvSpPr>
          <p:nvPr/>
        </p:nvSpPr>
        <p:spPr>
          <a:xfrm xmlns:a="http://schemas.openxmlformats.org/drawingml/2006/main">
            <a:off x="7010400" y="3086100"/>
            <a:ext cx="42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BBF24"/>
                </a:solidFill>
              </a:defRPr>
            </a:pPr>
            <a:r>
              <a:rPr sz="2100" b="1">
                <a:solidFill>
                  <a:srgbClr val="FBBF24"/>
                </a:solidFill>
              </a:rPr>
              <a:t>➜</a:t>
            </a:r>
          </a:p>
        </p:txBody>
      </p:sp>
      <p:sp>
        <p:nvSpPr>
          <p:cNvPr id="16" name="">
            <a:extLst xmlns:a="http://schemas.openxmlformats.org/drawingml/2006/main">
              <a:ext uri="{FF2B5EF4-FFF2-40B4-BE49-F238E27FC236}">
                <a16:creationId xmlns:a16="http://schemas.microsoft.com/office/drawing/2014/main" id="{B7B8DE53-F22B-4017-866D-CF96A6096F9D}"/>
              </a:ext>
            </a:extLst>
          </p:cNvPr>
          <p:cNvSpPr>
            <a:spLocks xmlns:a="http://schemas.openxmlformats.org/drawingml/2006/main" noGrp="1"/>
          </p:cNvSpPr>
          <p:nvPr/>
        </p:nvSpPr>
        <p:spPr>
          <a:xfrm xmlns:a="http://schemas.openxmlformats.org/drawingml/2006/main">
            <a:off x="7486650" y="2619375"/>
            <a:ext cx="1714500" cy="1238250"/>
          </a:xfrm>
          <a:prstGeom xmlns:a="http://schemas.openxmlformats.org/drawingml/2006/main" prst="roundRect">
            <a:avLst>
              <a:gd name="adj" fmla="val 9231"/>
            </a:avLst>
          </a:prstGeom>
          <a:solidFill xmlns:a="http://schemas.openxmlformats.org/drawingml/2006/main">
            <a:srgbClr val="F3F7FB"/>
          </a:solidFill>
          <a:ln xmlns:a="http://schemas.openxmlformats.org/drawingml/2006/main" w="11430">
            <a:solidFill>
              <a:srgbClr val="DCE5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d300fd4fbd284f0b">
            <a:extLst>
              <a:ext uri="{96DAC541-7B7A-43D3-8B79-37D633B846F1}">
                <asvg:svgBlip xmlns:asvg="http://schemas.microsoft.com/office/drawing/2016/SVG/main" r:embed="Rbe0542bdb73546e5"/>
              </a:ext>
            </a:extLst>
          </a:blip>
          <a:stretch xmlns:a="http://schemas.openxmlformats.org/drawingml/2006/main"/>
        </p:blipFill>
        <p:spPr>
          <a:xfrm xmlns:a="http://schemas.openxmlformats.org/drawingml/2006/main">
            <a:off x="8172450" y="2876550"/>
            <a:ext cx="342900" cy="3429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8D86630A-D27C-46D3-8CE6-F4947BE6C242}"/>
              </a:ext>
            </a:extLst>
          </p:cNvPr>
          <p:cNvSpPr>
            <a:spLocks xmlns:a="http://schemas.openxmlformats.org/drawingml/2006/main" noGrp="1"/>
          </p:cNvSpPr>
          <p:nvPr/>
        </p:nvSpPr>
        <p:spPr>
          <a:xfrm xmlns:a="http://schemas.openxmlformats.org/drawingml/2006/main">
            <a:off x="7658100" y="33909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0F172A"/>
                </a:solidFill>
              </a:defRPr>
            </a:pPr>
            <a:r>
              <a:rPr sz="1275" b="1">
                <a:solidFill>
                  <a:srgbClr val="0F172A"/>
                </a:solidFill>
              </a:rPr>
              <a:t>Discute com o professor</a:t>
            </a:r>
          </a:p>
        </p:txBody>
      </p:sp>
      <p:sp>
        <p:nvSpPr>
          <p:cNvPr id="19" name="">
            <a:extLst xmlns:a="http://schemas.openxmlformats.org/drawingml/2006/main">
              <a:ext uri="{FF2B5EF4-FFF2-40B4-BE49-F238E27FC236}">
                <a16:creationId xmlns:a16="http://schemas.microsoft.com/office/drawing/2014/main" id="{140FD3C9-3908-4458-839A-01E83F44122A}"/>
              </a:ext>
            </a:extLst>
          </p:cNvPr>
          <p:cNvSpPr>
            <a:spLocks xmlns:a="http://schemas.openxmlformats.org/drawingml/2006/main" noGrp="1"/>
          </p:cNvSpPr>
          <p:nvPr/>
        </p:nvSpPr>
        <p:spPr>
          <a:xfrm xmlns:a="http://schemas.openxmlformats.org/drawingml/2006/main">
            <a:off x="9277350" y="3086100"/>
            <a:ext cx="42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BBF24"/>
                </a:solidFill>
              </a:defRPr>
            </a:pPr>
            <a:r>
              <a:rPr sz="2100" b="1">
                <a:solidFill>
                  <a:srgbClr val="FBBF24"/>
                </a:solidFill>
              </a:rPr>
              <a:t>➜</a:t>
            </a:r>
          </a:p>
        </p:txBody>
      </p:sp>
      <p:sp>
        <p:nvSpPr>
          <p:cNvPr id="20" name="">
            <a:extLst xmlns:a="http://schemas.openxmlformats.org/drawingml/2006/main">
              <a:ext uri="{FF2B5EF4-FFF2-40B4-BE49-F238E27FC236}">
                <a16:creationId xmlns:a16="http://schemas.microsoft.com/office/drawing/2014/main" id="{DAC6DFF4-7CDE-40B2-86F6-A92C96E96729}"/>
              </a:ext>
            </a:extLst>
          </p:cNvPr>
          <p:cNvSpPr>
            <a:spLocks xmlns:a="http://schemas.openxmlformats.org/drawingml/2006/main" noGrp="1"/>
          </p:cNvSpPr>
          <p:nvPr/>
        </p:nvSpPr>
        <p:spPr>
          <a:xfrm xmlns:a="http://schemas.openxmlformats.org/drawingml/2006/main">
            <a:off x="9753600" y="2619375"/>
            <a:ext cx="1714500" cy="1238250"/>
          </a:xfrm>
          <a:prstGeom xmlns:a="http://schemas.openxmlformats.org/drawingml/2006/main" prst="roundRect">
            <a:avLst>
              <a:gd name="adj" fmla="val 9231"/>
            </a:avLst>
          </a:prstGeom>
          <a:solidFill xmlns:a="http://schemas.openxmlformats.org/drawingml/2006/main">
            <a:srgbClr val="F3F7FB"/>
          </a:solidFill>
          <a:ln xmlns:a="http://schemas.openxmlformats.org/drawingml/2006/main" w="11430">
            <a:solidFill>
              <a:srgbClr val="DCE5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200425f1bd1e4a81">
            <a:extLst>
              <a:ext uri="{96DAC541-7B7A-43D3-8B79-37D633B846F1}">
                <asvg:svgBlip xmlns:asvg="http://schemas.microsoft.com/office/drawing/2016/SVG/main" r:embed="R34df8695fbfa40ec"/>
              </a:ext>
            </a:extLst>
          </a:blip>
          <a:stretch xmlns:a="http://schemas.openxmlformats.org/drawingml/2006/main"/>
        </p:blipFill>
        <p:spPr>
          <a:xfrm xmlns:a="http://schemas.openxmlformats.org/drawingml/2006/main">
            <a:off x="10439400" y="2876550"/>
            <a:ext cx="342900" cy="3429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8EBD7D51-5EB3-406B-94C9-36EA3B6B6307}"/>
              </a:ext>
            </a:extLst>
          </p:cNvPr>
          <p:cNvSpPr>
            <a:spLocks xmlns:a="http://schemas.openxmlformats.org/drawingml/2006/main" noGrp="1"/>
          </p:cNvSpPr>
          <p:nvPr/>
        </p:nvSpPr>
        <p:spPr>
          <a:xfrm xmlns:a="http://schemas.openxmlformats.org/drawingml/2006/main">
            <a:off x="9925050" y="33909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0F172A"/>
                </a:solidFill>
              </a:defRPr>
            </a:pPr>
            <a:r>
              <a:rPr sz="1275" b="1">
                <a:solidFill>
                  <a:srgbClr val="0F172A"/>
                </a:solidFill>
              </a:rPr>
              <a:t>Professor valida</a:t>
            </a:r>
          </a:p>
        </p:txBody>
      </p:sp>
      <p:sp>
        <p:nvSpPr>
          <p:cNvPr id="23" name="">
            <a:extLst xmlns:a="http://schemas.openxmlformats.org/drawingml/2006/main">
              <a:ext uri="{FF2B5EF4-FFF2-40B4-BE49-F238E27FC236}">
                <a16:creationId xmlns:a16="http://schemas.microsoft.com/office/drawing/2014/main" id="{D3213347-73D7-4EA4-8D37-CE594EF505E5}"/>
              </a:ext>
            </a:extLst>
          </p:cNvPr>
          <p:cNvSpPr>
            <a:spLocks xmlns:a="http://schemas.openxmlformats.org/drawingml/2006/main" noGrp="1"/>
          </p:cNvSpPr>
          <p:nvPr/>
        </p:nvSpPr>
        <p:spPr>
          <a:xfrm xmlns:a="http://schemas.openxmlformats.org/drawingml/2006/main">
            <a:off x="2381250" y="4810125"/>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7C3FA0"/>
                </a:solidFill>
              </a:defRPr>
            </a:pPr>
            <a:r>
              <a:rPr sz="1800" b="1">
                <a:solidFill>
                  <a:srgbClr val="7C3FA0"/>
                </a:solidFill>
              </a:rPr>
              <a:t>A decisão final continua supervisionada.</a:t>
            </a:r>
          </a:p>
        </p:txBody>
      </p:sp>
      <p:sp>
        <p:nvSpPr>
          <p:cNvPr id="24" name="">
            <a:extLst xmlns:a="http://schemas.openxmlformats.org/drawingml/2006/main">
              <a:ext uri="{FF2B5EF4-FFF2-40B4-BE49-F238E27FC236}">
                <a16:creationId xmlns:a16="http://schemas.microsoft.com/office/drawing/2014/main" id="{7DCDF099-006F-41DB-BC28-3754D3A2E89F}"/>
              </a:ext>
            </a:extLst>
          </p:cNvPr>
          <p:cNvSpPr>
            <a:spLocks xmlns:a="http://schemas.openxmlformats.org/drawingml/2006/main" noGrp="1"/>
          </p:cNvSpPr>
          <p:nvPr/>
        </p:nvSpPr>
        <p:spPr>
          <a:xfrm xmlns:a="http://schemas.openxmlformats.org/drawingml/2006/main">
            <a:off x="685800" y="6362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8A9AA2"/>
                </a:solidFill>
              </a:defRPr>
            </a:pPr>
            <a:r>
              <a:rPr sz="825" b="0">
                <a:solidFill>
                  <a:srgbClr val="8A9AA2"/>
                </a:solidFill>
              </a:rPr>
              <a:t>OdontoDex Acadêmico | Piloto para clínicas-escola</a:t>
            </a:r>
          </a:p>
        </p:txBody>
      </p:sp>
      <p:sp>
        <p:nvSpPr>
          <p:cNvPr id="25" name="">
            <a:extLst xmlns:a="http://schemas.openxmlformats.org/drawingml/2006/main">
              <a:ext uri="{FF2B5EF4-FFF2-40B4-BE49-F238E27FC236}">
                <a16:creationId xmlns:a16="http://schemas.microsoft.com/office/drawing/2014/main" id="{0E957804-46B6-437A-B3A7-FD03804D3A38}"/>
              </a:ext>
            </a:extLst>
          </p:cNvPr>
          <p:cNvSpPr>
            <a:spLocks xmlns:a="http://schemas.openxmlformats.org/drawingml/2006/main" noGrp="1"/>
          </p:cNvSpPr>
          <p:nvPr/>
        </p:nvSpPr>
        <p:spPr>
          <a:xfrm xmlns:a="http://schemas.openxmlformats.org/drawingml/2006/main">
            <a:off x="10668000" y="6419850"/>
            <a:ext cx="838200" cy="38100"/>
          </a:xfrm>
          <a:prstGeom xmlns:a="http://schemas.openxmlformats.org/drawingml/2006/main" prst="rect">
            <a:avLst/>
          </a:prstGeom>
          <a:solidFill xmlns:a="http://schemas.openxmlformats.org/drawingml/2006/main">
            <a:srgbClr val="FBBF24"/>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64136711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A21287-2D74-4143-AD82-91E03A8FA8E2}"/>
              </a:ext>
            </a:extLst>
          </p:cNvPr>
          <p:cNvSpPr>
            <a:spLocks xmlns:a="http://schemas.openxmlformats.org/drawingml/2006/main" noGrp="1"/>
          </p:cNvSpPr>
          <p:nvPr/>
        </p:nvSpPr>
        <p:spPr>
          <a:xfrm xmlns:a="http://schemas.openxmlformats.org/drawingml/2006/main">
            <a:off x="685800" y="514350"/>
            <a:ext cx="7524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7C3FA0"/>
                </a:solidFill>
              </a:defRPr>
            </a:pPr>
            <a:r>
              <a:rPr sz="2550" b="1">
                <a:solidFill>
                  <a:srgbClr val="7C3FA0"/>
                </a:solidFill>
              </a:rPr>
              <a:t>O que o professor ganha com isso?</a:t>
            </a:r>
          </a:p>
        </p:txBody>
      </p:sp>
      <p:sp>
        <p:nvSpPr>
          <p:cNvPr id="2" name="">
            <a:extLst xmlns:a="http://schemas.openxmlformats.org/drawingml/2006/main">
              <a:ext uri="{FF2B5EF4-FFF2-40B4-BE49-F238E27FC236}">
                <a16:creationId xmlns:a16="http://schemas.microsoft.com/office/drawing/2014/main" id="{F094394C-F999-4EEC-8042-44F2599BD1FD}"/>
              </a:ext>
            </a:extLst>
          </p:cNvPr>
          <p:cNvSpPr>
            <a:spLocks xmlns:a="http://schemas.openxmlformats.org/drawingml/2006/main" noGrp="1"/>
          </p:cNvSpPr>
          <p:nvPr/>
        </p:nvSpPr>
        <p:spPr>
          <a:xfrm xmlns:a="http://schemas.openxmlformats.org/drawingml/2006/main">
            <a:off x="685800" y="1276350"/>
            <a:ext cx="819150" cy="47625"/>
          </a:xfrm>
          <a:prstGeom xmlns:a="http://schemas.openxmlformats.org/drawingml/2006/main" prst="rect">
            <a:avLst/>
          </a:prstGeom>
          <a:solidFill xmlns:a="http://schemas.openxmlformats.org/drawingml/2006/main">
            <a:srgbClr val="7C3FA0"/>
          </a:solidFill>
          <a:ln xmlns:a="http://schemas.openxmlformats.org/drawingml/2006/main" w="0">
            <a:solidFill>
              <a:srgbClr val="000000">
                <a:alpha val="0"/>
              </a:srgbClr>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0c4fd4ec73c454f"/>
          <a:stretch xmlns:a="http://schemas.openxmlformats.org/drawingml/2006/main"/>
        </p:blipFill>
        <p:spPr>
          <a:xfrm xmlns:a="http://schemas.openxmlformats.org/drawingml/2006/main">
            <a:off x="11125200" y="457200"/>
            <a:ext cx="285750" cy="28575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4881d6414214a58">
            <a:extLst>
              <a:ext uri="{96DAC541-7B7A-43D3-8B79-37D633B846F1}">
                <asvg:svgBlip xmlns:asvg="http://schemas.microsoft.com/office/drawing/2016/SVG/main" r:embed="Raf76c0bfb44d414c"/>
              </a:ext>
            </a:extLst>
          </a:blip>
          <a:stretch xmlns:a="http://schemas.openxmlformats.org/drawingml/2006/main"/>
        </p:blipFill>
        <p:spPr>
          <a:xfrm xmlns:a="http://schemas.openxmlformats.org/drawingml/2006/main">
            <a:off x="1143000" y="2286000"/>
            <a:ext cx="247650" cy="247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B4F9BF1-61E9-4B83-820F-3C44BB1FF8C0}"/>
              </a:ext>
            </a:extLst>
          </p:cNvPr>
          <p:cNvSpPr>
            <a:spLocks xmlns:a="http://schemas.openxmlformats.org/drawingml/2006/main" noGrp="1"/>
          </p:cNvSpPr>
          <p:nvPr/>
        </p:nvSpPr>
        <p:spPr>
          <a:xfrm xmlns:a="http://schemas.openxmlformats.org/drawingml/2006/main">
            <a:off x="1543050" y="22669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Perguntas chegam mais refinadas.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0f1d3c5ede9438b">
            <a:extLst>
              <a:ext uri="{96DAC541-7B7A-43D3-8B79-37D633B846F1}">
                <asvg:svgBlip xmlns:asvg="http://schemas.microsoft.com/office/drawing/2016/SVG/main" r:embed="R9619987269c24a6e"/>
              </a:ext>
            </a:extLst>
          </a:blip>
          <a:stretch xmlns:a="http://schemas.openxmlformats.org/drawingml/2006/main"/>
        </p:blipFill>
        <p:spPr>
          <a:xfrm xmlns:a="http://schemas.openxmlformats.org/drawingml/2006/main">
            <a:off x="1143000" y="3276600"/>
            <a:ext cx="247650" cy="247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4EA4CEA-E84A-4571-BE2B-97CE0BF7DB19}"/>
              </a:ext>
            </a:extLst>
          </p:cNvPr>
          <p:cNvSpPr>
            <a:spLocks xmlns:a="http://schemas.openxmlformats.org/drawingml/2006/main" noGrp="1"/>
          </p:cNvSpPr>
          <p:nvPr/>
        </p:nvSpPr>
        <p:spPr>
          <a:xfrm xmlns:a="http://schemas.openxmlformats.org/drawingml/2006/main">
            <a:off x="1543050" y="32575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Mais tempo para ensinar raciocínio clínico.</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337491770384ea7">
            <a:extLst>
              <a:ext uri="{96DAC541-7B7A-43D3-8B79-37D633B846F1}">
                <asvg:svgBlip xmlns:asvg="http://schemas.microsoft.com/office/drawing/2016/SVG/main" r:embed="R33fcf81299dd407f"/>
              </a:ext>
            </a:extLst>
          </a:blip>
          <a:stretch xmlns:a="http://schemas.openxmlformats.org/drawingml/2006/main"/>
        </p:blipFill>
        <p:spPr>
          <a:xfrm xmlns:a="http://schemas.openxmlformats.org/drawingml/2006/main">
            <a:off x="1143000" y="4267200"/>
            <a:ext cx="247650" cy="2476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A146B4C-C6DD-4CC4-B0C5-2E549C3CE984}"/>
              </a:ext>
            </a:extLst>
          </p:cNvPr>
          <p:cNvSpPr>
            <a:spLocks xmlns:a="http://schemas.openxmlformats.org/drawingml/2006/main" noGrp="1"/>
          </p:cNvSpPr>
          <p:nvPr/>
        </p:nvSpPr>
        <p:spPr>
          <a:xfrm xmlns:a="http://schemas.openxmlformats.org/drawingml/2006/main">
            <a:off x="1543050" y="42481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Padroniza a linguagem entre os alunos.</a:t>
            </a:r>
          </a:p>
        </p:txBody>
      </p:sp>
      <p:sp>
        <p:nvSpPr>
          <p:cNvPr id="10" name="">
            <a:extLst xmlns:a="http://schemas.openxmlformats.org/drawingml/2006/main">
              <a:ext uri="{FF2B5EF4-FFF2-40B4-BE49-F238E27FC236}">
                <a16:creationId xmlns:a16="http://schemas.microsoft.com/office/drawing/2014/main" id="{4BF952E8-28C2-4D93-ADAA-BE3AFF8CFE40}"/>
              </a:ext>
            </a:extLst>
          </p:cNvPr>
          <p:cNvSpPr>
            <a:spLocks xmlns:a="http://schemas.openxmlformats.org/drawingml/2006/main" noGrp="1"/>
          </p:cNvSpPr>
          <p:nvPr/>
        </p:nvSpPr>
        <p:spPr>
          <a:xfrm xmlns:a="http://schemas.openxmlformats.org/drawingml/2006/main">
            <a:off x="7810500" y="1952625"/>
            <a:ext cx="3143250" cy="2762250"/>
          </a:xfrm>
          <a:prstGeom xmlns:a="http://schemas.openxmlformats.org/drawingml/2006/main" prst="roundRect">
            <a:avLst>
              <a:gd name="adj" fmla="val 4138"/>
            </a:avLst>
          </a:prstGeom>
          <a:solidFill xmlns:a="http://schemas.openxmlformats.org/drawingml/2006/main">
            <a:srgbClr val="F5EEFB"/>
          </a:solidFill>
          <a:ln xmlns:a="http://schemas.openxmlformats.org/drawingml/2006/main" w="11430">
            <a:solidFill>
              <a:srgbClr val="E9D5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29D041C-AE0E-4195-9D7D-C6B58E1E5235}"/>
              </a:ext>
            </a:extLst>
          </p:cNvPr>
          <p:cNvSpPr>
            <a:spLocks xmlns:a="http://schemas.openxmlformats.org/drawingml/2006/main" noGrp="1"/>
          </p:cNvSpPr>
          <p:nvPr/>
        </p:nvSpPr>
        <p:spPr>
          <a:xfrm xmlns:a="http://schemas.openxmlformats.org/drawingml/2006/main">
            <a:off x="9029700" y="2571750"/>
            <a:ext cx="704850" cy="704850"/>
          </a:xfrm>
          <a:prstGeom xmlns:a="http://schemas.openxmlformats.org/drawingml/2006/main" prst="ellipse">
            <a:avLst/>
          </a:prstGeom>
          <a:solidFill xmlns:a="http://schemas.openxmlformats.org/drawingml/2006/main">
            <a:srgbClr val="7C3FA0"/>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C48D7430-7A56-4ABA-B9C2-1E7784968923}"/>
              </a:ext>
            </a:extLst>
          </p:cNvPr>
          <p:cNvSpPr>
            <a:spLocks xmlns:a="http://schemas.openxmlformats.org/drawingml/2006/main" noGrp="1"/>
          </p:cNvSpPr>
          <p:nvPr/>
        </p:nvSpPr>
        <p:spPr>
          <a:xfrm xmlns:a="http://schemas.openxmlformats.org/drawingml/2006/main">
            <a:off x="8553450" y="3600450"/>
            <a:ext cx="1676400" cy="76200"/>
          </a:xfrm>
          <a:prstGeom xmlns:a="http://schemas.openxmlformats.org/drawingml/2006/main" prst="rect">
            <a:avLst/>
          </a:prstGeom>
          <a:solidFill xmlns:a="http://schemas.openxmlformats.org/drawingml/2006/main">
            <a:srgbClr val="7C3FA0"/>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35D8CBEA-A5C0-4F3E-A1E9-3A7704616529}"/>
              </a:ext>
            </a:extLst>
          </p:cNvPr>
          <p:cNvSpPr>
            <a:spLocks xmlns:a="http://schemas.openxmlformats.org/drawingml/2006/main" noGrp="1"/>
          </p:cNvSpPr>
          <p:nvPr/>
        </p:nvSpPr>
        <p:spPr>
          <a:xfrm xmlns:a="http://schemas.openxmlformats.org/drawingml/2006/main">
            <a:off x="8334375" y="39052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7C3FA0"/>
                </a:solidFill>
              </a:defRPr>
            </a:pPr>
            <a:r>
              <a:rPr sz="1350" b="1">
                <a:solidFill>
                  <a:srgbClr val="7C3FA0"/>
                </a:solidFill>
              </a:rPr>
              <a:t>Imagem de mentoria nas notas</a:t>
            </a:r>
          </a:p>
        </p:txBody>
      </p:sp>
      <p:sp>
        <p:nvSpPr>
          <p:cNvPr id="14" name="">
            <a:extLst xmlns:a="http://schemas.openxmlformats.org/drawingml/2006/main">
              <a:ext uri="{FF2B5EF4-FFF2-40B4-BE49-F238E27FC236}">
                <a16:creationId xmlns:a16="http://schemas.microsoft.com/office/drawing/2014/main" id="{FD878AC6-D876-4557-8E1F-F5D65B4A6548}"/>
              </a:ext>
            </a:extLst>
          </p:cNvPr>
          <p:cNvSpPr>
            <a:spLocks xmlns:a="http://schemas.openxmlformats.org/drawingml/2006/main" noGrp="1"/>
          </p:cNvSpPr>
          <p:nvPr/>
        </p:nvSpPr>
        <p:spPr>
          <a:xfrm xmlns:a="http://schemas.openxmlformats.org/drawingml/2006/main">
            <a:off x="685800" y="6362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8A9AA2"/>
                </a:solidFill>
              </a:defRPr>
            </a:pPr>
            <a:r>
              <a:rPr sz="825" b="0">
                <a:solidFill>
                  <a:srgbClr val="8A9AA2"/>
                </a:solidFill>
              </a:rPr>
              <a:t>OdontoDex Acadêmico | Piloto para clínicas-escola</a:t>
            </a:r>
          </a:p>
        </p:txBody>
      </p:sp>
      <p:sp>
        <p:nvSpPr>
          <p:cNvPr id="15" name="">
            <a:extLst xmlns:a="http://schemas.openxmlformats.org/drawingml/2006/main">
              <a:ext uri="{FF2B5EF4-FFF2-40B4-BE49-F238E27FC236}">
                <a16:creationId xmlns:a16="http://schemas.microsoft.com/office/drawing/2014/main" id="{8500CB9C-52CB-49F3-8D5C-D7F34251567D}"/>
              </a:ext>
            </a:extLst>
          </p:cNvPr>
          <p:cNvSpPr>
            <a:spLocks xmlns:a="http://schemas.openxmlformats.org/drawingml/2006/main" noGrp="1"/>
          </p:cNvSpPr>
          <p:nvPr/>
        </p:nvSpPr>
        <p:spPr>
          <a:xfrm xmlns:a="http://schemas.openxmlformats.org/drawingml/2006/main">
            <a:off x="10668000" y="6419850"/>
            <a:ext cx="838200" cy="38100"/>
          </a:xfrm>
          <a:prstGeom xmlns:a="http://schemas.openxmlformats.org/drawingml/2006/main" prst="rect">
            <a:avLst/>
          </a:prstGeom>
          <a:solidFill xmlns:a="http://schemas.openxmlformats.org/drawingml/2006/main">
            <a:srgbClr val="FBBF24"/>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42013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8D78C0E-67E0-4545-B576-515E0203658C}"/>
              </a:ext>
            </a:extLst>
          </p:cNvPr>
          <p:cNvSpPr>
            <a:spLocks xmlns:a="http://schemas.openxmlformats.org/drawingml/2006/main" noGrp="1"/>
          </p:cNvSpPr>
          <p:nvPr/>
        </p:nvSpPr>
        <p:spPr>
          <a:xfrm xmlns:a="http://schemas.openxmlformats.org/drawingml/2006/main">
            <a:off x="685800" y="514350"/>
            <a:ext cx="7524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7C3FA0"/>
                </a:solidFill>
              </a:defRPr>
            </a:pPr>
            <a:r>
              <a:rPr sz="2550" b="1">
                <a:solidFill>
                  <a:srgbClr val="7C3FA0"/>
                </a:solidFill>
              </a:rPr>
              <a:t>Transforme POPs em consulta prática</a:t>
            </a:r>
          </a:p>
        </p:txBody>
      </p:sp>
      <p:sp>
        <p:nvSpPr>
          <p:cNvPr id="2" name="">
            <a:extLst xmlns:a="http://schemas.openxmlformats.org/drawingml/2006/main">
              <a:ext uri="{FF2B5EF4-FFF2-40B4-BE49-F238E27FC236}">
                <a16:creationId xmlns:a16="http://schemas.microsoft.com/office/drawing/2014/main" id="{E78612BC-22B5-48B7-A51C-8170C16ABF70}"/>
              </a:ext>
            </a:extLst>
          </p:cNvPr>
          <p:cNvSpPr>
            <a:spLocks xmlns:a="http://schemas.openxmlformats.org/drawingml/2006/main" noGrp="1"/>
          </p:cNvSpPr>
          <p:nvPr/>
        </p:nvSpPr>
        <p:spPr>
          <a:xfrm xmlns:a="http://schemas.openxmlformats.org/drawingml/2006/main">
            <a:off x="685800" y="1276350"/>
            <a:ext cx="819150" cy="47625"/>
          </a:xfrm>
          <a:prstGeom xmlns:a="http://schemas.openxmlformats.org/drawingml/2006/main" prst="rect">
            <a:avLst/>
          </a:prstGeom>
          <a:solidFill xmlns:a="http://schemas.openxmlformats.org/drawingml/2006/main">
            <a:srgbClr val="7C3FA0"/>
          </a:solidFill>
          <a:ln xmlns:a="http://schemas.openxmlformats.org/drawingml/2006/main" w="0">
            <a:solidFill>
              <a:srgbClr val="000000">
                <a:alpha val="0"/>
              </a:srgbClr>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7516cd979614ae1"/>
          <a:stretch xmlns:a="http://schemas.openxmlformats.org/drawingml/2006/main"/>
        </p:blipFill>
        <p:spPr>
          <a:xfrm xmlns:a="http://schemas.openxmlformats.org/drawingml/2006/main">
            <a:off x="11125200" y="457200"/>
            <a:ext cx="285750" cy="285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E155CD2-F72B-4F4C-AE83-D226A38FAD96}"/>
              </a:ext>
            </a:extLst>
          </p:cNvPr>
          <p:cNvSpPr>
            <a:spLocks xmlns:a="http://schemas.openxmlformats.org/drawingml/2006/main" noGrp="1"/>
          </p:cNvSpPr>
          <p:nvPr/>
        </p:nvSpPr>
        <p:spPr>
          <a:xfrm xmlns:a="http://schemas.openxmlformats.org/drawingml/2006/main">
            <a:off x="990600" y="2381250"/>
            <a:ext cx="4191000" cy="1809750"/>
          </a:xfrm>
          <a:prstGeom xmlns:a="http://schemas.openxmlformats.org/drawingml/2006/main" prst="roundRect">
            <a:avLst>
              <a:gd name="adj" fmla="val 6316"/>
            </a:avLst>
          </a:prstGeom>
          <a:solidFill xmlns:a="http://schemas.openxmlformats.org/drawingml/2006/main">
            <a:srgbClr val="F3F7FB"/>
          </a:solidFill>
          <a:ln xmlns:a="http://schemas.openxmlformats.org/drawingml/2006/main" w="11430">
            <a:solidFill>
              <a:srgbClr val="DCE5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4c11fd6b01d4aef">
            <a:extLst>
              <a:ext uri="{96DAC541-7B7A-43D3-8B79-37D633B846F1}">
                <asvg:svgBlip xmlns:asvg="http://schemas.microsoft.com/office/drawing/2016/SVG/main" r:embed="Rade0c6ee051a4766"/>
              </a:ext>
            </a:extLst>
          </a:blip>
          <a:stretch xmlns:a="http://schemas.openxmlformats.org/drawingml/2006/main"/>
        </p:blipFill>
        <p:spPr>
          <a:xfrm xmlns:a="http://schemas.openxmlformats.org/drawingml/2006/main">
            <a:off x="1371600" y="2971800"/>
            <a:ext cx="419100" cy="4191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E6F6FAC-C4E2-4243-9399-9C4EA90BFCE9}"/>
              </a:ext>
            </a:extLst>
          </p:cNvPr>
          <p:cNvSpPr>
            <a:spLocks xmlns:a="http://schemas.openxmlformats.org/drawingml/2006/main" noGrp="1"/>
          </p:cNvSpPr>
          <p:nvPr/>
        </p:nvSpPr>
        <p:spPr>
          <a:xfrm xmlns:a="http://schemas.openxmlformats.org/drawingml/2006/main">
            <a:off x="2095500" y="281940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F172A"/>
                </a:solidFill>
              </a:defRPr>
            </a:pPr>
            <a:r>
              <a:rPr sz="1875" b="1">
                <a:solidFill>
                  <a:srgbClr val="0F172A"/>
                </a:solidFill>
              </a:rPr>
              <a:t>PDF que ninguém abre</a:t>
            </a:r>
          </a:p>
          <a:p xmlns:a="http://schemas.openxmlformats.org/drawingml/2006/main">
            <a:pPr algn="l">
              <a:defRPr sz="1875" b="1">
                <a:solidFill>
                  <a:srgbClr val="0F172A"/>
                </a:solidFill>
              </a:defRPr>
            </a:pPr>
            <a:r>
              <a:rPr sz="1875" b="1">
                <a:solidFill>
                  <a:srgbClr val="0F172A"/>
                </a:solidFill>
              </a:rPr>
              <a:t>na hora da dúvida</a:t>
            </a:r>
          </a:p>
        </p:txBody>
      </p:sp>
      <p:sp>
        <p:nvSpPr>
          <p:cNvPr id="7" name="">
            <a:extLst xmlns:a="http://schemas.openxmlformats.org/drawingml/2006/main">
              <a:ext uri="{FF2B5EF4-FFF2-40B4-BE49-F238E27FC236}">
                <a16:creationId xmlns:a16="http://schemas.microsoft.com/office/drawing/2014/main" id="{AC58491D-AD8F-4B2C-8B0A-D9F319CF0CBF}"/>
              </a:ext>
            </a:extLst>
          </p:cNvPr>
          <p:cNvSpPr>
            <a:spLocks xmlns:a="http://schemas.openxmlformats.org/drawingml/2006/main" noGrp="1"/>
          </p:cNvSpPr>
          <p:nvPr/>
        </p:nvSpPr>
        <p:spPr>
          <a:xfrm xmlns:a="http://schemas.openxmlformats.org/drawingml/2006/main">
            <a:off x="5753100" y="3009900"/>
            <a:ext cx="68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FBBF24"/>
                </a:solidFill>
              </a:defRPr>
            </a:pPr>
            <a:r>
              <a:rPr sz="3150" b="1">
                <a:solidFill>
                  <a:srgbClr val="FBBF24"/>
                </a:solidFill>
              </a:rPr>
              <a:t>➜</a:t>
            </a:r>
          </a:p>
        </p:txBody>
      </p:sp>
      <p:sp>
        <p:nvSpPr>
          <p:cNvPr id="8" name="">
            <a:extLst xmlns:a="http://schemas.openxmlformats.org/drawingml/2006/main">
              <a:ext uri="{FF2B5EF4-FFF2-40B4-BE49-F238E27FC236}">
                <a16:creationId xmlns:a16="http://schemas.microsoft.com/office/drawing/2014/main" id="{C2E05E6D-15BE-45D8-9A0D-8FF4E311EB43}"/>
              </a:ext>
            </a:extLst>
          </p:cNvPr>
          <p:cNvSpPr>
            <a:spLocks xmlns:a="http://schemas.openxmlformats.org/drawingml/2006/main" noGrp="1"/>
          </p:cNvSpPr>
          <p:nvPr/>
        </p:nvSpPr>
        <p:spPr>
          <a:xfrm xmlns:a="http://schemas.openxmlformats.org/drawingml/2006/main">
            <a:off x="7010400" y="2381250"/>
            <a:ext cx="4191000" cy="1809750"/>
          </a:xfrm>
          <a:prstGeom xmlns:a="http://schemas.openxmlformats.org/drawingml/2006/main" prst="roundRect">
            <a:avLst>
              <a:gd name="adj" fmla="val 6316"/>
            </a:avLst>
          </a:prstGeom>
          <a:solidFill xmlns:a="http://schemas.openxmlformats.org/drawingml/2006/main">
            <a:srgbClr val="F5EEFB"/>
          </a:solidFill>
          <a:ln xmlns:a="http://schemas.openxmlformats.org/drawingml/2006/main" w="11430">
            <a:solidFill>
              <a:srgbClr val="E9D5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f4193a2a9dd42b7">
            <a:extLst>
              <a:ext uri="{96DAC541-7B7A-43D3-8B79-37D633B846F1}">
                <asvg:svgBlip xmlns:asvg="http://schemas.microsoft.com/office/drawing/2016/SVG/main" r:embed="R57d608e9d5a44e3f"/>
              </a:ext>
            </a:extLst>
          </a:blip>
          <a:stretch xmlns:a="http://schemas.openxmlformats.org/drawingml/2006/main"/>
        </p:blipFill>
        <p:spPr>
          <a:xfrm xmlns:a="http://schemas.openxmlformats.org/drawingml/2006/main">
            <a:off x="7391400" y="2971800"/>
            <a:ext cx="419100" cy="4191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BA285EB-93EF-46A4-8C88-BF8F69E69191}"/>
              </a:ext>
            </a:extLst>
          </p:cNvPr>
          <p:cNvSpPr>
            <a:spLocks xmlns:a="http://schemas.openxmlformats.org/drawingml/2006/main" noGrp="1"/>
          </p:cNvSpPr>
          <p:nvPr/>
        </p:nvSpPr>
        <p:spPr>
          <a:xfrm xmlns:a="http://schemas.openxmlformats.org/drawingml/2006/main">
            <a:off x="8115300" y="2781300"/>
            <a:ext cx="257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7C3FA0"/>
                </a:solidFill>
              </a:defRPr>
            </a:pPr>
            <a:r>
              <a:rPr sz="1800" b="1">
                <a:solidFill>
                  <a:srgbClr val="7C3FA0"/>
                </a:solidFill>
              </a:rPr>
              <a:t>Camada de consulta rápida</a:t>
            </a:r>
          </a:p>
          <a:p xmlns:a="http://schemas.openxmlformats.org/drawingml/2006/main">
            <a:pPr algn="l">
              <a:defRPr sz="1800" b="1">
                <a:solidFill>
                  <a:srgbClr val="7C3FA0"/>
                </a:solidFill>
              </a:defRPr>
            </a:pPr>
            <a:r>
              <a:rPr sz="1800" b="1">
                <a:solidFill>
                  <a:srgbClr val="7C3FA0"/>
                </a:solidFill>
              </a:rPr>
              <a:t>dos protocolos da faculdade</a:t>
            </a:r>
          </a:p>
        </p:txBody>
      </p:sp>
      <p:sp>
        <p:nvSpPr>
          <p:cNvPr id="11" name="">
            <a:extLst xmlns:a="http://schemas.openxmlformats.org/drawingml/2006/main">
              <a:ext uri="{FF2B5EF4-FFF2-40B4-BE49-F238E27FC236}">
                <a16:creationId xmlns:a16="http://schemas.microsoft.com/office/drawing/2014/main" id="{5E04135C-7DAE-41B2-BCFF-E6DB0BC9C558}"/>
              </a:ext>
            </a:extLst>
          </p:cNvPr>
          <p:cNvSpPr>
            <a:spLocks xmlns:a="http://schemas.openxmlformats.org/drawingml/2006/main" noGrp="1"/>
          </p:cNvSpPr>
          <p:nvPr/>
        </p:nvSpPr>
        <p:spPr>
          <a:xfrm xmlns:a="http://schemas.openxmlformats.org/drawingml/2006/main">
            <a:off x="685800" y="6362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8A9AA2"/>
                </a:solidFill>
              </a:defRPr>
            </a:pPr>
            <a:r>
              <a:rPr sz="825" b="0">
                <a:solidFill>
                  <a:srgbClr val="8A9AA2"/>
                </a:solidFill>
              </a:rPr>
              <a:t>OdontoDex Acadêmico | Piloto para clínicas-escola</a:t>
            </a:r>
          </a:p>
        </p:txBody>
      </p:sp>
      <p:sp>
        <p:nvSpPr>
          <p:cNvPr id="12" name="">
            <a:extLst xmlns:a="http://schemas.openxmlformats.org/drawingml/2006/main">
              <a:ext uri="{FF2B5EF4-FFF2-40B4-BE49-F238E27FC236}">
                <a16:creationId xmlns:a16="http://schemas.microsoft.com/office/drawing/2014/main" id="{88229503-9B50-47EC-ABD9-82CE95EAD5B3}"/>
              </a:ext>
            </a:extLst>
          </p:cNvPr>
          <p:cNvSpPr>
            <a:spLocks xmlns:a="http://schemas.openxmlformats.org/drawingml/2006/main" noGrp="1"/>
          </p:cNvSpPr>
          <p:nvPr/>
        </p:nvSpPr>
        <p:spPr>
          <a:xfrm xmlns:a="http://schemas.openxmlformats.org/drawingml/2006/main">
            <a:off x="10668000" y="6419850"/>
            <a:ext cx="838200" cy="38100"/>
          </a:xfrm>
          <a:prstGeom xmlns:a="http://schemas.openxmlformats.org/drawingml/2006/main" prst="rect">
            <a:avLst/>
          </a:prstGeom>
          <a:solidFill xmlns:a="http://schemas.openxmlformats.org/drawingml/2006/main">
            <a:srgbClr val="FBBF24"/>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823498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7F06751-3BD0-479F-BD0B-CC1BC7DB3474}"/>
              </a:ext>
            </a:extLst>
          </p:cNvPr>
          <p:cNvSpPr>
            <a:spLocks xmlns:a="http://schemas.openxmlformats.org/drawingml/2006/main" noGrp="1"/>
          </p:cNvSpPr>
          <p:nvPr/>
        </p:nvSpPr>
        <p:spPr>
          <a:xfrm xmlns:a="http://schemas.openxmlformats.org/drawingml/2006/main">
            <a:off x="685800" y="514350"/>
            <a:ext cx="7524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7C3FA0"/>
                </a:solidFill>
              </a:defRPr>
            </a:pPr>
            <a:r>
              <a:rPr sz="2550" b="1">
                <a:solidFill>
                  <a:srgbClr val="7C3FA0"/>
                </a:solidFill>
              </a:rPr>
              <a:t>O que o OdontoDex NÃO é</a:t>
            </a:r>
          </a:p>
        </p:txBody>
      </p:sp>
      <p:sp>
        <p:nvSpPr>
          <p:cNvPr id="2" name="">
            <a:extLst xmlns:a="http://schemas.openxmlformats.org/drawingml/2006/main">
              <a:ext uri="{FF2B5EF4-FFF2-40B4-BE49-F238E27FC236}">
                <a16:creationId xmlns:a16="http://schemas.microsoft.com/office/drawing/2014/main" id="{D2C822B4-279D-4B68-8CD7-8BF834BDBBDA}"/>
              </a:ext>
            </a:extLst>
          </p:cNvPr>
          <p:cNvSpPr>
            <a:spLocks xmlns:a="http://schemas.openxmlformats.org/drawingml/2006/main" noGrp="1"/>
          </p:cNvSpPr>
          <p:nvPr/>
        </p:nvSpPr>
        <p:spPr>
          <a:xfrm xmlns:a="http://schemas.openxmlformats.org/drawingml/2006/main">
            <a:off x="685800" y="1276350"/>
            <a:ext cx="819150" cy="47625"/>
          </a:xfrm>
          <a:prstGeom xmlns:a="http://schemas.openxmlformats.org/drawingml/2006/main" prst="rect">
            <a:avLst/>
          </a:prstGeom>
          <a:solidFill xmlns:a="http://schemas.openxmlformats.org/drawingml/2006/main">
            <a:srgbClr val="7C3FA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15EF856-14EC-480A-A2F7-A2B2DE4006DC}"/>
              </a:ext>
            </a:extLst>
          </p:cNvPr>
          <p:cNvSpPr>
            <a:spLocks xmlns:a="http://schemas.openxmlformats.org/drawingml/2006/main" noGrp="1"/>
          </p:cNvSpPr>
          <p:nvPr/>
        </p:nvSpPr>
        <p:spPr>
          <a:xfrm xmlns:a="http://schemas.openxmlformats.org/drawingml/2006/main">
            <a:off x="685800" y="150495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48B"/>
                </a:solidFill>
              </a:defRPr>
            </a:pPr>
            <a:r>
              <a:rPr sz="1350" b="0">
                <a:solidFill>
                  <a:srgbClr val="64748B"/>
                </a:solidFill>
              </a:rPr>
              <a:t>Limites claros para uso institucional.</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9e131a2a03d4b9c"/>
          <a:stretch xmlns:a="http://schemas.openxmlformats.org/drawingml/2006/main"/>
        </p:blipFill>
        <p:spPr>
          <a:xfrm xmlns:a="http://schemas.openxmlformats.org/drawingml/2006/main">
            <a:off x="11125200" y="457200"/>
            <a:ext cx="285750" cy="28575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7a1d497af764b7f">
            <a:extLst>
              <a:ext uri="{96DAC541-7B7A-43D3-8B79-37D633B846F1}">
                <asvg:svgBlip xmlns:asvg="http://schemas.microsoft.com/office/drawing/2016/SVG/main" r:embed="Ref650f9e5a0d448d"/>
              </a:ext>
            </a:extLst>
          </a:blip>
          <a:stretch xmlns:a="http://schemas.openxmlformats.org/drawingml/2006/main"/>
        </p:blipFill>
        <p:spPr>
          <a:xfrm xmlns:a="http://schemas.openxmlformats.org/drawingml/2006/main">
            <a:off x="1143000" y="2190750"/>
            <a:ext cx="247650" cy="2476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1E5B34F-DAE5-4BCA-86B9-8FB0E058B393}"/>
              </a:ext>
            </a:extLst>
          </p:cNvPr>
          <p:cNvSpPr>
            <a:spLocks xmlns:a="http://schemas.openxmlformats.org/drawingml/2006/main" noGrp="1"/>
          </p:cNvSpPr>
          <p:nvPr/>
        </p:nvSpPr>
        <p:spPr>
          <a:xfrm xmlns:a="http://schemas.openxmlformats.org/drawingml/2006/main">
            <a:off x="1543050" y="21717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NÃO substitui o Professor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18abbc4f0584171">
            <a:extLst>
              <a:ext uri="{96DAC541-7B7A-43D3-8B79-37D633B846F1}">
                <asvg:svgBlip xmlns:asvg="http://schemas.microsoft.com/office/drawing/2016/SVG/main" r:embed="Rce38c70be39340d6"/>
              </a:ext>
            </a:extLst>
          </a:blip>
          <a:stretch xmlns:a="http://schemas.openxmlformats.org/drawingml/2006/main"/>
        </p:blipFill>
        <p:spPr>
          <a:xfrm xmlns:a="http://schemas.openxmlformats.org/drawingml/2006/main">
            <a:off x="1143000" y="3048000"/>
            <a:ext cx="247650" cy="247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C9C1403-5F77-4702-8086-CF9F3A18B8B4}"/>
              </a:ext>
            </a:extLst>
          </p:cNvPr>
          <p:cNvSpPr>
            <a:spLocks xmlns:a="http://schemas.openxmlformats.org/drawingml/2006/main" noGrp="1"/>
          </p:cNvSpPr>
          <p:nvPr/>
        </p:nvSpPr>
        <p:spPr>
          <a:xfrm xmlns:a="http://schemas.openxmlformats.org/drawingml/2006/main">
            <a:off x="1543050" y="30289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NÃO é Diagnóstico</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91f287c7ced4e8c">
            <a:extLst>
              <a:ext uri="{96DAC541-7B7A-43D3-8B79-37D633B846F1}">
                <asvg:svgBlip xmlns:asvg="http://schemas.microsoft.com/office/drawing/2016/SVG/main" r:embed="R0e8ffb6f033a4827"/>
              </a:ext>
            </a:extLst>
          </a:blip>
          <a:stretch xmlns:a="http://schemas.openxmlformats.org/drawingml/2006/main"/>
        </p:blipFill>
        <p:spPr>
          <a:xfrm xmlns:a="http://schemas.openxmlformats.org/drawingml/2006/main">
            <a:off x="1143000" y="3905250"/>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F8C5259-6986-4D4C-B842-8360C412DC0E}"/>
              </a:ext>
            </a:extLst>
          </p:cNvPr>
          <p:cNvSpPr>
            <a:spLocks xmlns:a="http://schemas.openxmlformats.org/drawingml/2006/main" noGrp="1"/>
          </p:cNvSpPr>
          <p:nvPr/>
        </p:nvSpPr>
        <p:spPr>
          <a:xfrm xmlns:a="http://schemas.openxmlformats.org/drawingml/2006/main">
            <a:off x="1543050" y="38862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NÃO é Prontuário (LGPD)</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13e6dc2aaa6475c">
            <a:extLst>
              <a:ext uri="{96DAC541-7B7A-43D3-8B79-37D633B846F1}">
                <asvg:svgBlip xmlns:asvg="http://schemas.microsoft.com/office/drawing/2016/SVG/main" r:embed="R4653bf14a59e4939"/>
              </a:ext>
            </a:extLst>
          </a:blip>
          <a:stretch xmlns:a="http://schemas.openxmlformats.org/drawingml/2006/main"/>
        </p:blipFill>
        <p:spPr>
          <a:xfrm xmlns:a="http://schemas.openxmlformats.org/drawingml/2006/main">
            <a:off x="6667500" y="2590800"/>
            <a:ext cx="247650" cy="2476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B117197-0307-4297-8246-82A5C576638A}"/>
              </a:ext>
            </a:extLst>
          </p:cNvPr>
          <p:cNvSpPr>
            <a:spLocks xmlns:a="http://schemas.openxmlformats.org/drawingml/2006/main" noGrp="1"/>
          </p:cNvSpPr>
          <p:nvPr/>
        </p:nvSpPr>
        <p:spPr>
          <a:xfrm xmlns:a="http://schemas.openxmlformats.org/drawingml/2006/main">
            <a:off x="7067550" y="25717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É um organizador de raciocínio</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d07b15d93fb74a60">
            <a:extLst>
              <a:ext uri="{96DAC541-7B7A-43D3-8B79-37D633B846F1}">
                <asvg:svgBlip xmlns:asvg="http://schemas.microsoft.com/office/drawing/2016/SVG/main" r:embed="R39618e58d58346a8"/>
              </a:ext>
            </a:extLst>
          </a:blip>
          <a:stretch xmlns:a="http://schemas.openxmlformats.org/drawingml/2006/main"/>
        </p:blipFill>
        <p:spPr>
          <a:xfrm xmlns:a="http://schemas.openxmlformats.org/drawingml/2006/main">
            <a:off x="6667500" y="3638550"/>
            <a:ext cx="247650" cy="2476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647B557-B494-4334-AE1D-7AD45A380D51}"/>
              </a:ext>
            </a:extLst>
          </p:cNvPr>
          <p:cNvSpPr>
            <a:spLocks xmlns:a="http://schemas.openxmlformats.org/drawingml/2006/main" noGrp="1"/>
          </p:cNvSpPr>
          <p:nvPr/>
        </p:nvSpPr>
        <p:spPr>
          <a:xfrm xmlns:a="http://schemas.openxmlformats.org/drawingml/2006/main">
            <a:off x="7067550" y="36195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F172A"/>
                </a:solidFill>
              </a:defRPr>
            </a:pPr>
            <a:r>
              <a:rPr sz="1500" b="0">
                <a:solidFill>
                  <a:srgbClr val="0F172A"/>
                </a:solidFill>
              </a:rPr>
              <a:t>O Protocolo da Casa prevalece</a:t>
            </a:r>
          </a:p>
        </p:txBody>
      </p:sp>
      <p:sp>
        <p:nvSpPr>
          <p:cNvPr id="15" name="">
            <a:extLst xmlns:a="http://schemas.openxmlformats.org/drawingml/2006/main">
              <a:ext uri="{FF2B5EF4-FFF2-40B4-BE49-F238E27FC236}">
                <a16:creationId xmlns:a16="http://schemas.microsoft.com/office/drawing/2014/main" id="{7386EC2A-DC33-47D9-9557-7C7DB417A832}"/>
              </a:ext>
            </a:extLst>
          </p:cNvPr>
          <p:cNvSpPr>
            <a:spLocks xmlns:a="http://schemas.openxmlformats.org/drawingml/2006/main" noGrp="1"/>
          </p:cNvSpPr>
          <p:nvPr/>
        </p:nvSpPr>
        <p:spPr>
          <a:xfrm xmlns:a="http://schemas.openxmlformats.org/drawingml/2006/main">
            <a:off x="685800" y="6362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8A9AA2"/>
                </a:solidFill>
              </a:defRPr>
            </a:pPr>
            <a:r>
              <a:rPr sz="825" b="0">
                <a:solidFill>
                  <a:srgbClr val="8A9AA2"/>
                </a:solidFill>
              </a:rPr>
              <a:t>OdontoDex Acadêmico | Piloto para clínicas-escola</a:t>
            </a:r>
          </a:p>
        </p:txBody>
      </p:sp>
      <p:sp>
        <p:nvSpPr>
          <p:cNvPr id="16" name="">
            <a:extLst xmlns:a="http://schemas.openxmlformats.org/drawingml/2006/main">
              <a:ext uri="{FF2B5EF4-FFF2-40B4-BE49-F238E27FC236}">
                <a16:creationId xmlns:a16="http://schemas.microsoft.com/office/drawing/2014/main" id="{3816E834-42E5-423C-88BA-E93948FC3578}"/>
              </a:ext>
            </a:extLst>
          </p:cNvPr>
          <p:cNvSpPr>
            <a:spLocks xmlns:a="http://schemas.openxmlformats.org/drawingml/2006/main" noGrp="1"/>
          </p:cNvSpPr>
          <p:nvPr/>
        </p:nvSpPr>
        <p:spPr>
          <a:xfrm xmlns:a="http://schemas.openxmlformats.org/drawingml/2006/main">
            <a:off x="10668000" y="6419850"/>
            <a:ext cx="838200" cy="38100"/>
          </a:xfrm>
          <a:prstGeom xmlns:a="http://schemas.openxmlformats.org/drawingml/2006/main" prst="rect">
            <a:avLst/>
          </a:prstGeom>
          <a:solidFill xmlns:a="http://schemas.openxmlformats.org/drawingml/2006/main">
            <a:srgbClr val="FBBF24"/>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2955453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71D85D4-81B4-47D2-93E9-F846CD1E6A6F}"/>
              </a:ext>
            </a:extLst>
          </p:cNvPr>
          <p:cNvSpPr>
            <a:spLocks xmlns:a="http://schemas.openxmlformats.org/drawingml/2006/main" noGrp="1"/>
          </p:cNvSpPr>
          <p:nvPr/>
        </p:nvSpPr>
        <p:spPr>
          <a:xfrm xmlns:a="http://schemas.openxmlformats.org/drawingml/2006/main">
            <a:off x="685800" y="514350"/>
            <a:ext cx="7524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7C3FA0"/>
                </a:solidFill>
              </a:defRPr>
            </a:pPr>
            <a:r>
              <a:rPr sz="2550" b="1">
                <a:solidFill>
                  <a:srgbClr val="7C3FA0"/>
                </a:solidFill>
              </a:rPr>
              <a:t>Vamos testar juntos, sem risco.</a:t>
            </a:r>
          </a:p>
        </p:txBody>
      </p:sp>
      <p:sp>
        <p:nvSpPr>
          <p:cNvPr id="2" name="">
            <a:extLst xmlns:a="http://schemas.openxmlformats.org/drawingml/2006/main">
              <a:ext uri="{FF2B5EF4-FFF2-40B4-BE49-F238E27FC236}">
                <a16:creationId xmlns:a16="http://schemas.microsoft.com/office/drawing/2014/main" id="{0A7EFF4B-3A17-4810-80F8-1332201A94DF}"/>
              </a:ext>
            </a:extLst>
          </p:cNvPr>
          <p:cNvSpPr>
            <a:spLocks xmlns:a="http://schemas.openxmlformats.org/drawingml/2006/main" noGrp="1"/>
          </p:cNvSpPr>
          <p:nvPr/>
        </p:nvSpPr>
        <p:spPr>
          <a:xfrm xmlns:a="http://schemas.openxmlformats.org/drawingml/2006/main">
            <a:off x="685800" y="1276350"/>
            <a:ext cx="819150" cy="47625"/>
          </a:xfrm>
          <a:prstGeom xmlns:a="http://schemas.openxmlformats.org/drawingml/2006/main" prst="rect">
            <a:avLst/>
          </a:prstGeom>
          <a:solidFill xmlns:a="http://schemas.openxmlformats.org/drawingml/2006/main">
            <a:srgbClr val="7C3FA0"/>
          </a:solidFill>
          <a:ln xmlns:a="http://schemas.openxmlformats.org/drawingml/2006/main" w="0">
            <a:solidFill>
              <a:srgbClr val="000000">
                <a:alpha val="0"/>
              </a:srgbClr>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44edd1742c24ba4"/>
          <a:stretch xmlns:a="http://schemas.openxmlformats.org/drawingml/2006/main"/>
        </p:blipFill>
        <p:spPr>
          <a:xfrm xmlns:a="http://schemas.openxmlformats.org/drawingml/2006/main">
            <a:off x="11125200" y="457200"/>
            <a:ext cx="285750" cy="285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0AA7C88-0736-4504-B9F6-051020403155}"/>
              </a:ext>
            </a:extLst>
          </p:cNvPr>
          <p:cNvSpPr>
            <a:spLocks xmlns:a="http://schemas.openxmlformats.org/drawingml/2006/main" noGrp="1"/>
          </p:cNvSpPr>
          <p:nvPr/>
        </p:nvSpPr>
        <p:spPr>
          <a:xfrm xmlns:a="http://schemas.openxmlformats.org/drawingml/2006/main">
            <a:off x="2381250" y="2000250"/>
            <a:ext cx="7429500" cy="2571750"/>
          </a:xfrm>
          <a:prstGeom xmlns:a="http://schemas.openxmlformats.org/drawingml/2006/main" prst="roundRect">
            <a:avLst>
              <a:gd name="adj" fmla="val 4444"/>
            </a:avLst>
          </a:prstGeom>
          <a:solidFill xmlns:a="http://schemas.openxmlformats.org/drawingml/2006/main">
            <a:srgbClr val="F5EEFB"/>
          </a:solidFill>
          <a:ln xmlns:a="http://schemas.openxmlformats.org/drawingml/2006/main" w="11430">
            <a:solidFill>
              <a:srgbClr val="E9D5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1FCFB497-7CBD-44B8-AD88-43089B67DC4C}"/>
              </a:ext>
            </a:extLst>
          </p:cNvPr>
          <p:cNvSpPr>
            <a:spLocks xmlns:a="http://schemas.openxmlformats.org/drawingml/2006/main" noGrp="1"/>
          </p:cNvSpPr>
          <p:nvPr/>
        </p:nvSpPr>
        <p:spPr>
          <a:xfrm xmlns:a="http://schemas.openxmlformats.org/drawingml/2006/main">
            <a:off x="2647950" y="2381250"/>
            <a:ext cx="6896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00" b="1">
                <a:solidFill>
                  <a:srgbClr val="7C3FA0"/>
                </a:solidFill>
              </a:defRPr>
            </a:pPr>
            <a:r>
              <a:rPr sz="2400" b="1">
                <a:solidFill>
                  <a:srgbClr val="7C3FA0"/>
                </a:solidFill>
              </a:rPr>
              <a:t>PILOTO DE 30 DIAS - GRATUITO</a:t>
            </a:r>
          </a:p>
        </p:txBody>
      </p:sp>
      <p:sp>
        <p:nvSpPr>
          <p:cNvPr id="6" name="">
            <a:extLst xmlns:a="http://schemas.openxmlformats.org/drawingml/2006/main">
              <a:ext uri="{FF2B5EF4-FFF2-40B4-BE49-F238E27FC236}">
                <a16:creationId xmlns:a16="http://schemas.microsoft.com/office/drawing/2014/main" id="{4011BF93-4531-44EF-830B-2E328D46E215}"/>
              </a:ext>
            </a:extLst>
          </p:cNvPr>
          <p:cNvSpPr>
            <a:spLocks xmlns:a="http://schemas.openxmlformats.org/drawingml/2006/main" noGrp="1"/>
          </p:cNvSpPr>
          <p:nvPr/>
        </p:nvSpPr>
        <p:spPr>
          <a:xfrm xmlns:a="http://schemas.openxmlformats.org/drawingml/2006/main">
            <a:off x="3048000" y="3105150"/>
            <a:ext cx="609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0">
                <a:solidFill>
                  <a:srgbClr val="0F172A"/>
                </a:solidFill>
              </a:defRPr>
            </a:pPr>
            <a:r>
              <a:rPr sz="1725" b="0">
                <a:solidFill>
                  <a:srgbClr val="0F172A"/>
                </a:solidFill>
              </a:rPr>
              <a:t>20 a 50 alunos | 2 a 5 professores</a:t>
            </a:r>
          </a:p>
        </p:txBody>
      </p:sp>
      <p:sp>
        <p:nvSpPr>
          <p:cNvPr id="7" name="">
            <a:extLst xmlns:a="http://schemas.openxmlformats.org/drawingml/2006/main">
              <a:ext uri="{FF2B5EF4-FFF2-40B4-BE49-F238E27FC236}">
                <a16:creationId xmlns:a16="http://schemas.microsoft.com/office/drawing/2014/main" id="{B0E1E6C3-26EC-477B-81F1-FE5FDBA3179F}"/>
              </a:ext>
            </a:extLst>
          </p:cNvPr>
          <p:cNvSpPr>
            <a:spLocks xmlns:a="http://schemas.openxmlformats.org/drawingml/2006/main" noGrp="1"/>
          </p:cNvSpPr>
          <p:nvPr/>
        </p:nvSpPr>
        <p:spPr>
          <a:xfrm xmlns:a="http://schemas.openxmlformats.org/drawingml/2006/main">
            <a:off x="3048000" y="3638550"/>
            <a:ext cx="609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7C3FA0"/>
                </a:solidFill>
              </a:defRPr>
            </a:pPr>
            <a:r>
              <a:rPr sz="1650" b="1">
                <a:solidFill>
                  <a:srgbClr val="7C3FA0"/>
                </a:solidFill>
              </a:rPr>
              <a:t>Acesso Premium liberado</a:t>
            </a:r>
          </a:p>
        </p:txBody>
      </p:sp>
      <p:sp>
        <p:nvSpPr>
          <p:cNvPr id="8" name="">
            <a:extLst xmlns:a="http://schemas.openxmlformats.org/drawingml/2006/main">
              <a:ext uri="{FF2B5EF4-FFF2-40B4-BE49-F238E27FC236}">
                <a16:creationId xmlns:a16="http://schemas.microsoft.com/office/drawing/2014/main" id="{1762B106-DD3C-46E0-8961-4F49055C97DB}"/>
              </a:ext>
            </a:extLst>
          </p:cNvPr>
          <p:cNvSpPr>
            <a:spLocks xmlns:a="http://schemas.openxmlformats.org/drawingml/2006/main" noGrp="1"/>
          </p:cNvSpPr>
          <p:nvPr/>
        </p:nvSpPr>
        <p:spPr>
          <a:xfrm xmlns:a="http://schemas.openxmlformats.org/drawingml/2006/main">
            <a:off x="3048000" y="4114800"/>
            <a:ext cx="609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0F172A"/>
                </a:solidFill>
              </a:defRPr>
            </a:pPr>
            <a:r>
              <a:rPr sz="1500" b="0">
                <a:solidFill>
                  <a:srgbClr val="0F172A"/>
                </a:solidFill>
              </a:rPr>
              <a:t>Relatório detalhado para coordenação</a:t>
            </a:r>
          </a:p>
        </p:txBody>
      </p:sp>
      <p:sp>
        <p:nvSpPr>
          <p:cNvPr id="9" name="">
            <a:extLst xmlns:a="http://schemas.openxmlformats.org/drawingml/2006/main">
              <a:ext uri="{FF2B5EF4-FFF2-40B4-BE49-F238E27FC236}">
                <a16:creationId xmlns:a16="http://schemas.microsoft.com/office/drawing/2014/main" id="{59184175-94A6-4E5C-A511-99D638D401D3}"/>
              </a:ext>
            </a:extLst>
          </p:cNvPr>
          <p:cNvSpPr>
            <a:spLocks xmlns:a="http://schemas.openxmlformats.org/drawingml/2006/main" noGrp="1"/>
          </p:cNvSpPr>
          <p:nvPr/>
        </p:nvSpPr>
        <p:spPr>
          <a:xfrm xmlns:a="http://schemas.openxmlformats.org/drawingml/2006/main">
            <a:off x="685800" y="6362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8A9AA2"/>
                </a:solidFill>
              </a:defRPr>
            </a:pPr>
            <a:r>
              <a:rPr sz="825" b="0">
                <a:solidFill>
                  <a:srgbClr val="8A9AA2"/>
                </a:solidFill>
              </a:rPr>
              <a:t>OdontoDex Acadêmico | Piloto para clínicas-escola</a:t>
            </a:r>
          </a:p>
        </p:txBody>
      </p:sp>
      <p:sp>
        <p:nvSpPr>
          <p:cNvPr id="10" name="">
            <a:extLst xmlns:a="http://schemas.openxmlformats.org/drawingml/2006/main">
              <a:ext uri="{FF2B5EF4-FFF2-40B4-BE49-F238E27FC236}">
                <a16:creationId xmlns:a16="http://schemas.microsoft.com/office/drawing/2014/main" id="{69BFE2F2-F8D3-4E7D-A017-2B96B095D758}"/>
              </a:ext>
            </a:extLst>
          </p:cNvPr>
          <p:cNvSpPr>
            <a:spLocks xmlns:a="http://schemas.openxmlformats.org/drawingml/2006/main" noGrp="1"/>
          </p:cNvSpPr>
          <p:nvPr/>
        </p:nvSpPr>
        <p:spPr>
          <a:xfrm xmlns:a="http://schemas.openxmlformats.org/drawingml/2006/main">
            <a:off x="10668000" y="6419850"/>
            <a:ext cx="838200" cy="38100"/>
          </a:xfrm>
          <a:prstGeom xmlns:a="http://schemas.openxmlformats.org/drawingml/2006/main" prst="rect">
            <a:avLst/>
          </a:prstGeom>
          <a:solidFill xmlns:a="http://schemas.openxmlformats.org/drawingml/2006/main">
            <a:srgbClr val="FBBF24"/>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18164638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D51179C-37D3-40B6-BFBC-08AD91346184}"/>
              </a:ext>
            </a:extLst>
          </p:cNvPr>
          <p:cNvSpPr>
            <a:spLocks xmlns:a="http://schemas.openxmlformats.org/drawingml/2006/main" noGrp="1"/>
          </p:cNvSpPr>
          <p:nvPr/>
        </p:nvSpPr>
        <p:spPr>
          <a:xfrm xmlns:a="http://schemas.openxmlformats.org/drawingml/2006/main">
            <a:off x="685800" y="514350"/>
            <a:ext cx="7524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7C3FA0"/>
                </a:solidFill>
              </a:defRPr>
            </a:pPr>
            <a:r>
              <a:rPr sz="2550" b="1">
                <a:solidFill>
                  <a:srgbClr val="7C3FA0"/>
                </a:solidFill>
              </a:rPr>
              <a:t>O próximo passo é simples</a:t>
            </a:r>
          </a:p>
        </p:txBody>
      </p:sp>
      <p:sp>
        <p:nvSpPr>
          <p:cNvPr id="2" name="">
            <a:extLst xmlns:a="http://schemas.openxmlformats.org/drawingml/2006/main">
              <a:ext uri="{FF2B5EF4-FFF2-40B4-BE49-F238E27FC236}">
                <a16:creationId xmlns:a16="http://schemas.microsoft.com/office/drawing/2014/main" id="{625E0A97-47F1-453F-9E0C-DD1F740B4C82}"/>
              </a:ext>
            </a:extLst>
          </p:cNvPr>
          <p:cNvSpPr>
            <a:spLocks xmlns:a="http://schemas.openxmlformats.org/drawingml/2006/main" noGrp="1"/>
          </p:cNvSpPr>
          <p:nvPr/>
        </p:nvSpPr>
        <p:spPr>
          <a:xfrm xmlns:a="http://schemas.openxmlformats.org/drawingml/2006/main">
            <a:off x="685800" y="1276350"/>
            <a:ext cx="819150" cy="47625"/>
          </a:xfrm>
          <a:prstGeom xmlns:a="http://schemas.openxmlformats.org/drawingml/2006/main" prst="rect">
            <a:avLst/>
          </a:prstGeom>
          <a:solidFill xmlns:a="http://schemas.openxmlformats.org/drawingml/2006/main">
            <a:srgbClr val="7C3FA0"/>
          </a:solidFill>
          <a:ln xmlns:a="http://schemas.openxmlformats.org/drawingml/2006/main" w="0">
            <a:solidFill>
              <a:srgbClr val="000000">
                <a:alpha val="0"/>
              </a:srgbClr>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b6bb70995c84b46"/>
          <a:stretch xmlns:a="http://schemas.openxmlformats.org/drawingml/2006/main"/>
        </p:blipFill>
        <p:spPr>
          <a:xfrm xmlns:a="http://schemas.openxmlformats.org/drawingml/2006/main">
            <a:off x="11125200" y="457200"/>
            <a:ext cx="285750" cy="285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B04EBAB-B175-4B58-B220-0B2A10F7CB8D}"/>
              </a:ext>
            </a:extLst>
          </p:cNvPr>
          <p:cNvSpPr>
            <a:spLocks xmlns:a="http://schemas.openxmlformats.org/drawingml/2006/main" noGrp="1"/>
          </p:cNvSpPr>
          <p:nvPr/>
        </p:nvSpPr>
        <p:spPr>
          <a:xfrm xmlns:a="http://schemas.openxmlformats.org/drawingml/2006/main">
            <a:off x="1143000" y="2000250"/>
            <a:ext cx="438150" cy="438150"/>
          </a:xfrm>
          <a:prstGeom xmlns:a="http://schemas.openxmlformats.org/drawingml/2006/main" prst="ellipse">
            <a:avLst/>
          </a:prstGeom>
          <a:solidFill xmlns:a="http://schemas.openxmlformats.org/drawingml/2006/main">
            <a:srgbClr val="FBBF24"/>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B3BFBD2-750B-4E67-A40B-0ECEAE3DBCF8}"/>
              </a:ext>
            </a:extLst>
          </p:cNvPr>
          <p:cNvSpPr>
            <a:spLocks xmlns:a="http://schemas.openxmlformats.org/drawingml/2006/main" noGrp="1"/>
          </p:cNvSpPr>
          <p:nvPr/>
        </p:nvSpPr>
        <p:spPr>
          <a:xfrm xmlns:a="http://schemas.openxmlformats.org/drawingml/2006/main">
            <a:off x="1143000" y="20764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1</a:t>
            </a:r>
          </a:p>
        </p:txBody>
      </p:sp>
      <p:sp>
        <p:nvSpPr>
          <p:cNvPr id="6" name="">
            <a:extLst xmlns:a="http://schemas.openxmlformats.org/drawingml/2006/main">
              <a:ext uri="{FF2B5EF4-FFF2-40B4-BE49-F238E27FC236}">
                <a16:creationId xmlns:a16="http://schemas.microsoft.com/office/drawing/2014/main" id="{9B2B3C54-2AF7-49BD-8262-AB0B09C754A9}"/>
              </a:ext>
            </a:extLst>
          </p:cNvPr>
          <p:cNvSpPr>
            <a:spLocks xmlns:a="http://schemas.openxmlformats.org/drawingml/2006/main" noGrp="1"/>
          </p:cNvSpPr>
          <p:nvPr/>
        </p:nvSpPr>
        <p:spPr>
          <a:xfrm xmlns:a="http://schemas.openxmlformats.org/drawingml/2006/main">
            <a:off x="1809750" y="20764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defRPr>
            </a:pPr>
            <a:r>
              <a:rPr sz="1650" b="1">
                <a:solidFill>
                  <a:srgbClr val="0F172A"/>
                </a:solidFill>
              </a:rPr>
              <a:t>Reunião de alinhamento</a:t>
            </a:r>
          </a:p>
        </p:txBody>
      </p:sp>
      <p:sp>
        <p:nvSpPr>
          <p:cNvPr id="7" name="">
            <a:extLst xmlns:a="http://schemas.openxmlformats.org/drawingml/2006/main">
              <a:ext uri="{FF2B5EF4-FFF2-40B4-BE49-F238E27FC236}">
                <a16:creationId xmlns:a16="http://schemas.microsoft.com/office/drawing/2014/main" id="{0F1973C2-3D7D-4138-AE68-75E515BECA0F}"/>
              </a:ext>
            </a:extLst>
          </p:cNvPr>
          <p:cNvSpPr>
            <a:spLocks xmlns:a="http://schemas.openxmlformats.org/drawingml/2006/main" noGrp="1"/>
          </p:cNvSpPr>
          <p:nvPr/>
        </p:nvSpPr>
        <p:spPr>
          <a:xfrm xmlns:a="http://schemas.openxmlformats.org/drawingml/2006/main">
            <a:off x="1143000" y="2724150"/>
            <a:ext cx="438150" cy="438150"/>
          </a:xfrm>
          <a:prstGeom xmlns:a="http://schemas.openxmlformats.org/drawingml/2006/main" prst="ellipse">
            <a:avLst/>
          </a:prstGeom>
          <a:solidFill xmlns:a="http://schemas.openxmlformats.org/drawingml/2006/main">
            <a:srgbClr val="7C3FA0"/>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43044C0-9D09-4496-8625-341892D72708}"/>
              </a:ext>
            </a:extLst>
          </p:cNvPr>
          <p:cNvSpPr>
            <a:spLocks xmlns:a="http://schemas.openxmlformats.org/drawingml/2006/main" noGrp="1"/>
          </p:cNvSpPr>
          <p:nvPr/>
        </p:nvSpPr>
        <p:spPr>
          <a:xfrm xmlns:a="http://schemas.openxmlformats.org/drawingml/2006/main">
            <a:off x="1143000" y="28003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2</a:t>
            </a:r>
          </a:p>
        </p:txBody>
      </p:sp>
      <p:sp>
        <p:nvSpPr>
          <p:cNvPr id="9" name="">
            <a:extLst xmlns:a="http://schemas.openxmlformats.org/drawingml/2006/main">
              <a:ext uri="{FF2B5EF4-FFF2-40B4-BE49-F238E27FC236}">
                <a16:creationId xmlns:a16="http://schemas.microsoft.com/office/drawing/2014/main" id="{7D3ED687-DFB7-45DF-8CA9-840705BC8E4F}"/>
              </a:ext>
            </a:extLst>
          </p:cNvPr>
          <p:cNvSpPr>
            <a:spLocks xmlns:a="http://schemas.openxmlformats.org/drawingml/2006/main" noGrp="1"/>
          </p:cNvSpPr>
          <p:nvPr/>
        </p:nvSpPr>
        <p:spPr>
          <a:xfrm xmlns:a="http://schemas.openxmlformats.org/drawingml/2006/main">
            <a:off x="1809750" y="28003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defRPr>
            </a:pPr>
            <a:r>
              <a:rPr sz="1650" b="1">
                <a:solidFill>
                  <a:srgbClr val="0F172A"/>
                </a:solidFill>
              </a:rPr>
              <a:t>Liberação dos acessos</a:t>
            </a:r>
          </a:p>
        </p:txBody>
      </p:sp>
      <p:sp>
        <p:nvSpPr>
          <p:cNvPr id="10" name="">
            <a:extLst xmlns:a="http://schemas.openxmlformats.org/drawingml/2006/main">
              <a:ext uri="{FF2B5EF4-FFF2-40B4-BE49-F238E27FC236}">
                <a16:creationId xmlns:a16="http://schemas.microsoft.com/office/drawing/2014/main" id="{50ED934E-3D70-487B-9FD6-6062DCB41130}"/>
              </a:ext>
            </a:extLst>
          </p:cNvPr>
          <p:cNvSpPr>
            <a:spLocks xmlns:a="http://schemas.openxmlformats.org/drawingml/2006/main" noGrp="1"/>
          </p:cNvSpPr>
          <p:nvPr/>
        </p:nvSpPr>
        <p:spPr>
          <a:xfrm xmlns:a="http://schemas.openxmlformats.org/drawingml/2006/main">
            <a:off x="1143000" y="3448050"/>
            <a:ext cx="438150" cy="438150"/>
          </a:xfrm>
          <a:prstGeom xmlns:a="http://schemas.openxmlformats.org/drawingml/2006/main" prst="ellipse">
            <a:avLst/>
          </a:prstGeom>
          <a:solidFill xmlns:a="http://schemas.openxmlformats.org/drawingml/2006/main">
            <a:srgbClr val="7C3FA0"/>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88078C7-EA17-490A-9064-4DD55E25C7DD}"/>
              </a:ext>
            </a:extLst>
          </p:cNvPr>
          <p:cNvSpPr>
            <a:spLocks xmlns:a="http://schemas.openxmlformats.org/drawingml/2006/main" noGrp="1"/>
          </p:cNvSpPr>
          <p:nvPr/>
        </p:nvSpPr>
        <p:spPr>
          <a:xfrm xmlns:a="http://schemas.openxmlformats.org/drawingml/2006/main">
            <a:off x="1143000" y="3524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3</a:t>
            </a:r>
          </a:p>
        </p:txBody>
      </p:sp>
      <p:sp>
        <p:nvSpPr>
          <p:cNvPr id="12" name="">
            <a:extLst xmlns:a="http://schemas.openxmlformats.org/drawingml/2006/main">
              <a:ext uri="{FF2B5EF4-FFF2-40B4-BE49-F238E27FC236}">
                <a16:creationId xmlns:a16="http://schemas.microsoft.com/office/drawing/2014/main" id="{4A38C78D-1414-4D59-A03C-97536D2431A3}"/>
              </a:ext>
            </a:extLst>
          </p:cNvPr>
          <p:cNvSpPr>
            <a:spLocks xmlns:a="http://schemas.openxmlformats.org/drawingml/2006/main" noGrp="1"/>
          </p:cNvSpPr>
          <p:nvPr/>
        </p:nvSpPr>
        <p:spPr>
          <a:xfrm xmlns:a="http://schemas.openxmlformats.org/drawingml/2006/main">
            <a:off x="1809750" y="35242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defRPr>
            </a:pPr>
            <a:r>
              <a:rPr sz="1650" b="1">
                <a:solidFill>
                  <a:srgbClr val="0F172A"/>
                </a:solidFill>
              </a:rPr>
              <a:t>Acompanhamento semanal</a:t>
            </a:r>
          </a:p>
        </p:txBody>
      </p:sp>
      <p:sp>
        <p:nvSpPr>
          <p:cNvPr id="13" name="">
            <a:extLst xmlns:a="http://schemas.openxmlformats.org/drawingml/2006/main">
              <a:ext uri="{FF2B5EF4-FFF2-40B4-BE49-F238E27FC236}">
                <a16:creationId xmlns:a16="http://schemas.microsoft.com/office/drawing/2014/main" id="{8E149793-4B2C-4F72-989B-126E94B6F62E}"/>
              </a:ext>
            </a:extLst>
          </p:cNvPr>
          <p:cNvSpPr>
            <a:spLocks xmlns:a="http://schemas.openxmlformats.org/drawingml/2006/main" noGrp="1"/>
          </p:cNvSpPr>
          <p:nvPr/>
        </p:nvSpPr>
        <p:spPr>
          <a:xfrm xmlns:a="http://schemas.openxmlformats.org/drawingml/2006/main">
            <a:off x="1143000" y="4171950"/>
            <a:ext cx="438150" cy="438150"/>
          </a:xfrm>
          <a:prstGeom xmlns:a="http://schemas.openxmlformats.org/drawingml/2006/main" prst="ellipse">
            <a:avLst/>
          </a:prstGeom>
          <a:solidFill xmlns:a="http://schemas.openxmlformats.org/drawingml/2006/main">
            <a:srgbClr val="7C3FA0"/>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638EF739-7157-4DA2-B568-3B4FB22A8117}"/>
              </a:ext>
            </a:extLst>
          </p:cNvPr>
          <p:cNvSpPr>
            <a:spLocks xmlns:a="http://schemas.openxmlformats.org/drawingml/2006/main" noGrp="1"/>
          </p:cNvSpPr>
          <p:nvPr/>
        </p:nvSpPr>
        <p:spPr>
          <a:xfrm xmlns:a="http://schemas.openxmlformats.org/drawingml/2006/main">
            <a:off x="1143000" y="42481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4</a:t>
            </a:r>
          </a:p>
        </p:txBody>
      </p:sp>
      <p:sp>
        <p:nvSpPr>
          <p:cNvPr id="15" name="">
            <a:extLst xmlns:a="http://schemas.openxmlformats.org/drawingml/2006/main">
              <a:ext uri="{FF2B5EF4-FFF2-40B4-BE49-F238E27FC236}">
                <a16:creationId xmlns:a16="http://schemas.microsoft.com/office/drawing/2014/main" id="{20059419-6BB6-45EA-BDBD-B577D212F08E}"/>
              </a:ext>
            </a:extLst>
          </p:cNvPr>
          <p:cNvSpPr>
            <a:spLocks xmlns:a="http://schemas.openxmlformats.org/drawingml/2006/main" noGrp="1"/>
          </p:cNvSpPr>
          <p:nvPr/>
        </p:nvSpPr>
        <p:spPr>
          <a:xfrm xmlns:a="http://schemas.openxmlformats.org/drawingml/2006/main">
            <a:off x="1809750" y="42481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defRPr>
            </a:pPr>
            <a:r>
              <a:rPr sz="1650" b="1">
                <a:solidFill>
                  <a:srgbClr val="0F172A"/>
                </a:solidFill>
              </a:rPr>
              <a:t>Entrega do relatório final</a:t>
            </a:r>
          </a:p>
        </p:txBody>
      </p:sp>
      <p:sp>
        <p:nvSpPr>
          <p:cNvPr id="16" name="">
            <a:extLst xmlns:a="http://schemas.openxmlformats.org/drawingml/2006/main">
              <a:ext uri="{FF2B5EF4-FFF2-40B4-BE49-F238E27FC236}">
                <a16:creationId xmlns:a16="http://schemas.microsoft.com/office/drawing/2014/main" id="{0DEC8F5C-2F5B-4E2E-85A3-9D6EBE554904}"/>
              </a:ext>
            </a:extLst>
          </p:cNvPr>
          <p:cNvSpPr>
            <a:spLocks xmlns:a="http://schemas.openxmlformats.org/drawingml/2006/main" noGrp="1"/>
          </p:cNvSpPr>
          <p:nvPr/>
        </p:nvSpPr>
        <p:spPr>
          <a:xfrm xmlns:a="http://schemas.openxmlformats.org/drawingml/2006/main">
            <a:off x="7524750" y="2190750"/>
            <a:ext cx="3333750" cy="2000250"/>
          </a:xfrm>
          <a:prstGeom xmlns:a="http://schemas.openxmlformats.org/drawingml/2006/main" prst="roundRect">
            <a:avLst>
              <a:gd name="adj" fmla="val 5714"/>
            </a:avLst>
          </a:prstGeom>
          <a:solidFill xmlns:a="http://schemas.openxmlformats.org/drawingml/2006/main">
            <a:srgbClr val="FFFBEB"/>
          </a:solidFill>
          <a:ln xmlns:a="http://schemas.openxmlformats.org/drawingml/2006/main" w="11430">
            <a:solidFill>
              <a:srgbClr val="FDE68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156F578C-6359-42A7-973D-F568826E6297}"/>
              </a:ext>
            </a:extLst>
          </p:cNvPr>
          <p:cNvSpPr>
            <a:spLocks xmlns:a="http://schemas.openxmlformats.org/drawingml/2006/main" noGrp="1"/>
          </p:cNvSpPr>
          <p:nvPr/>
        </p:nvSpPr>
        <p:spPr>
          <a:xfrm xmlns:a="http://schemas.openxmlformats.org/drawingml/2006/main">
            <a:off x="7905750" y="2647950"/>
            <a:ext cx="2571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7C3FA0"/>
                </a:solidFill>
              </a:defRPr>
            </a:pPr>
            <a:r>
              <a:rPr sz="1650" b="1">
                <a:solidFill>
                  <a:srgbClr val="7C3FA0"/>
                </a:solidFill>
              </a:rPr>
              <a:t>“Não queremos vender um app. Queremos construir um estudo de caso com a sua faculdade.”</a:t>
            </a:r>
          </a:p>
        </p:txBody>
      </p:sp>
      <p:sp>
        <p:nvSpPr>
          <p:cNvPr id="18" name="">
            <a:extLst xmlns:a="http://schemas.openxmlformats.org/drawingml/2006/main">
              <a:ext uri="{FF2B5EF4-FFF2-40B4-BE49-F238E27FC236}">
                <a16:creationId xmlns:a16="http://schemas.microsoft.com/office/drawing/2014/main" id="{2E2C6EAA-4FFF-4473-B305-2C579D4623A7}"/>
              </a:ext>
            </a:extLst>
          </p:cNvPr>
          <p:cNvSpPr>
            <a:spLocks xmlns:a="http://schemas.openxmlformats.org/drawingml/2006/main" noGrp="1"/>
          </p:cNvSpPr>
          <p:nvPr/>
        </p:nvSpPr>
        <p:spPr>
          <a:xfrm xmlns:a="http://schemas.openxmlformats.org/drawingml/2006/main">
            <a:off x="685800" y="6362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8A9AA2"/>
                </a:solidFill>
              </a:defRPr>
            </a:pPr>
            <a:r>
              <a:rPr sz="825" b="0">
                <a:solidFill>
                  <a:srgbClr val="8A9AA2"/>
                </a:solidFill>
              </a:rPr>
              <a:t>OdontoDex Acadêmico | Piloto para clínicas-escola</a:t>
            </a:r>
          </a:p>
        </p:txBody>
      </p:sp>
      <p:sp>
        <p:nvSpPr>
          <p:cNvPr id="19" name="">
            <a:extLst xmlns:a="http://schemas.openxmlformats.org/drawingml/2006/main">
              <a:ext uri="{FF2B5EF4-FFF2-40B4-BE49-F238E27FC236}">
                <a16:creationId xmlns:a16="http://schemas.microsoft.com/office/drawing/2014/main" id="{DB85990E-D92D-4E1E-A8F5-5E77E616C9C8}"/>
              </a:ext>
            </a:extLst>
          </p:cNvPr>
          <p:cNvSpPr>
            <a:spLocks xmlns:a="http://schemas.openxmlformats.org/drawingml/2006/main" noGrp="1"/>
          </p:cNvSpPr>
          <p:nvPr/>
        </p:nvSpPr>
        <p:spPr>
          <a:xfrm xmlns:a="http://schemas.openxmlformats.org/drawingml/2006/main">
            <a:off x="10668000" y="6419850"/>
            <a:ext cx="838200" cy="38100"/>
          </a:xfrm>
          <a:prstGeom xmlns:a="http://schemas.openxmlformats.org/drawingml/2006/main" prst="rect">
            <a:avLst/>
          </a:prstGeom>
          <a:solidFill xmlns:a="http://schemas.openxmlformats.org/drawingml/2006/main">
            <a:srgbClr val="FBBF24"/>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7928088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2026-07-08T16:42:42.0610000Z</dcterms:created>
  <dcterms:modified xsi:type="dcterms:W3CDTF">2026-07-08T16:42:42.0610000Z</dcterms:modified>
</coreProperties>
</file>